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
  </p:notesMasterIdLst>
  <p:sldIdLst>
    <p:sldId id="256" r:id="rId2"/>
  </p:sldIdLst>
  <p:sldSz cx="14630400" cy="8229600"/>
  <p:notesSz cx="8229600" cy="14630400"/>
  <p:embeddedFontLst>
    <p:embeddedFont>
      <p:font typeface="Source Sans 3" panose="020B0604020202020204" charset="0"/>
      <p:regular r:id="rId4"/>
    </p:embeddedFont>
    <p:embeddedFont>
      <p:font typeface="Source Serif 4 Semi Bold" panose="020B0604020202020204" charset="0"/>
      <p:regular r:id="rId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714" y="-64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font" Target="fonts/font2.fntdata"/><Relationship Id="rId4" Type="http://schemas.openxmlformats.org/officeDocument/2006/relationships/font" Target="fonts/font1.fntdata"/><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1323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18862" y="287893"/>
            <a:ext cx="5064085" cy="308015"/>
          </a:xfrm>
          <a:prstGeom prst="rect">
            <a:avLst/>
          </a:prstGeom>
          <a:noFill/>
          <a:ln/>
        </p:spPr>
        <p:txBody>
          <a:bodyPr wrap="none" lIns="0" tIns="0" rIns="0" bIns="0" rtlCol="0" anchor="t"/>
          <a:lstStyle/>
          <a:p>
            <a:pPr marL="0" indent="0" algn="l">
              <a:lnSpc>
                <a:spcPts val="2400"/>
              </a:lnSpc>
              <a:buNone/>
            </a:pPr>
            <a:r>
              <a:rPr lang="en-US" sz="1900" dirty="0">
                <a:solidFill>
                  <a:srgbClr val="D73AD7"/>
                </a:solidFill>
                <a:latin typeface="Source Serif 4 Semi Bold" pitchFamily="34" charset="0"/>
                <a:ea typeface="Source Serif 4 Semi Bold" pitchFamily="34" charset="-122"/>
                <a:cs typeface="Source Serif 4 Semi Bold" pitchFamily="34" charset="-120"/>
              </a:rPr>
              <a:t>Sales Insights Data Analysis Project Report</a:t>
            </a:r>
            <a:endParaRPr lang="en-US" sz="1900" dirty="0"/>
          </a:p>
        </p:txBody>
      </p:sp>
      <p:sp>
        <p:nvSpPr>
          <p:cNvPr id="3" name="Text 1"/>
          <p:cNvSpPr/>
          <p:nvPr/>
        </p:nvSpPr>
        <p:spPr>
          <a:xfrm>
            <a:off x="418862" y="805339"/>
            <a:ext cx="13792676" cy="209550"/>
          </a:xfrm>
          <a:prstGeom prst="rect">
            <a:avLst/>
          </a:prstGeom>
          <a:noFill/>
          <a:ln/>
        </p:spPr>
        <p:txBody>
          <a:bodyPr wrap="none" lIns="0" tIns="0" rIns="0" bIns="0" rtlCol="0" anchor="t"/>
          <a:lstStyle/>
          <a:p>
            <a:pPr marL="0" indent="0" algn="l">
              <a:lnSpc>
                <a:spcPts val="1600"/>
              </a:lnSpc>
              <a:buNone/>
            </a:pPr>
            <a:r>
              <a:rPr lang="en-US" sz="1000" dirty="0">
                <a:solidFill>
                  <a:srgbClr val="272525"/>
                </a:solidFill>
                <a:latin typeface="Source Sans 3" pitchFamily="34" charset="0"/>
                <a:ea typeface="Source Sans 3" pitchFamily="34" charset="-122"/>
                <a:cs typeface="Source Sans 3" pitchFamily="34" charset="-120"/>
              </a:rPr>
              <a:t>Transforming raw sales data into strategic business intelligence through advanced analytics and visualization.</a:t>
            </a:r>
            <a:endParaRPr lang="en-US" sz="1000" dirty="0"/>
          </a:p>
        </p:txBody>
      </p:sp>
      <p:sp>
        <p:nvSpPr>
          <p:cNvPr id="4" name="Text 2"/>
          <p:cNvSpPr/>
          <p:nvPr/>
        </p:nvSpPr>
        <p:spPr>
          <a:xfrm>
            <a:off x="418862" y="1171932"/>
            <a:ext cx="1971318" cy="246459"/>
          </a:xfrm>
          <a:prstGeom prst="rect">
            <a:avLst/>
          </a:prstGeom>
          <a:noFill/>
          <a:ln/>
        </p:spPr>
        <p:txBody>
          <a:bodyPr wrap="none" lIns="0" tIns="0" rIns="0" bIns="0" rtlCol="0" anchor="t"/>
          <a:lstStyle/>
          <a:p>
            <a:pPr marL="0" indent="0" algn="l">
              <a:lnSpc>
                <a:spcPts val="1900"/>
              </a:lnSpc>
              <a:buNone/>
            </a:pPr>
            <a:r>
              <a:rPr lang="en-US" sz="1550" dirty="0">
                <a:solidFill>
                  <a:srgbClr val="D73AD7"/>
                </a:solidFill>
                <a:latin typeface="Source Serif 4 Semi Bold" pitchFamily="34" charset="0"/>
                <a:ea typeface="Source Serif 4 Semi Bold" pitchFamily="34" charset="-122"/>
                <a:cs typeface="Source Serif 4 Semi Bold" pitchFamily="34" charset="-120"/>
              </a:rPr>
              <a:t>Project Overview</a:t>
            </a:r>
            <a:endParaRPr lang="en-US" sz="1550" dirty="0"/>
          </a:p>
        </p:txBody>
      </p:sp>
      <p:sp>
        <p:nvSpPr>
          <p:cNvPr id="5" name="Text 3"/>
          <p:cNvSpPr/>
          <p:nvPr/>
        </p:nvSpPr>
        <p:spPr>
          <a:xfrm>
            <a:off x="418862" y="1575435"/>
            <a:ext cx="13792676" cy="335280"/>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This real-world business data analysis project uncovers critical insights into company-wide sales performance across diverse markets and customer segments. Using authentic data sourced directly from SQL databases, I constructed an interactive Power BI dashboard to visualize key performance indicators—Revenue, Sales Quantity, and Profit Margin—with detailed breakdowns by Market, Zone, Product, and Customer Type. The analysis reflects genuine business scenarios and operational challenges faced by stakeholders.</a:t>
            </a:r>
            <a:endParaRPr lang="en-US" sz="800" dirty="0"/>
          </a:p>
        </p:txBody>
      </p:sp>
      <p:sp>
        <p:nvSpPr>
          <p:cNvPr id="6" name="Text 4"/>
          <p:cNvSpPr/>
          <p:nvPr/>
        </p:nvSpPr>
        <p:spPr>
          <a:xfrm>
            <a:off x="418862" y="2067758"/>
            <a:ext cx="1478518" cy="184785"/>
          </a:xfrm>
          <a:prstGeom prst="rect">
            <a:avLst/>
          </a:prstGeom>
          <a:noFill/>
          <a:ln/>
        </p:spPr>
        <p:txBody>
          <a:bodyPr wrap="none" lIns="0" tIns="0" rIns="0" bIns="0" rtlCol="0" anchor="t"/>
          <a:lstStyle/>
          <a:p>
            <a:pPr marL="0" indent="0" algn="l">
              <a:lnSpc>
                <a:spcPts val="1450"/>
              </a:lnSpc>
              <a:buNone/>
            </a:pPr>
            <a:r>
              <a:rPr lang="en-US" sz="1150" dirty="0">
                <a:solidFill>
                  <a:srgbClr val="D73AD7"/>
                </a:solidFill>
                <a:latin typeface="Source Serif 4 Semi Bold" pitchFamily="34" charset="0"/>
                <a:ea typeface="Source Serif 4 Semi Bold" pitchFamily="34" charset="-122"/>
                <a:cs typeface="Source Serif 4 Semi Bold" pitchFamily="34" charset="-120"/>
              </a:rPr>
              <a:t>Core Objectives</a:t>
            </a:r>
            <a:endParaRPr lang="en-US" sz="1150" dirty="0"/>
          </a:p>
        </p:txBody>
      </p:sp>
      <p:sp>
        <p:nvSpPr>
          <p:cNvPr id="7" name="Shape 5"/>
          <p:cNvSpPr/>
          <p:nvPr/>
        </p:nvSpPr>
        <p:spPr>
          <a:xfrm>
            <a:off x="418862" y="2409587"/>
            <a:ext cx="6843951" cy="608886"/>
          </a:xfrm>
          <a:prstGeom prst="roundRect">
            <a:avLst>
              <a:gd name="adj" fmla="val 7224"/>
            </a:avLst>
          </a:prstGeom>
          <a:solidFill>
            <a:srgbClr val="F4D4F7"/>
          </a:solidFill>
          <a:ln w="7620">
            <a:solidFill>
              <a:srgbClr val="DABADD"/>
            </a:solidFill>
            <a:prstDash val="solid"/>
          </a:ln>
        </p:spPr>
        <p:txBody>
          <a:bodyPr/>
          <a:lstStyle/>
          <a:p>
            <a:endParaRPr lang="en-IN"/>
          </a:p>
        </p:txBody>
      </p:sp>
      <p:sp>
        <p:nvSpPr>
          <p:cNvPr id="8" name="Text 6"/>
          <p:cNvSpPr/>
          <p:nvPr/>
        </p:nvSpPr>
        <p:spPr>
          <a:xfrm>
            <a:off x="531138" y="2521863"/>
            <a:ext cx="1464112"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Monitor Revenue Trends</a:t>
            </a:r>
            <a:endParaRPr lang="en-US" sz="950" dirty="0"/>
          </a:p>
        </p:txBody>
      </p:sp>
      <p:sp>
        <p:nvSpPr>
          <p:cNvPr id="9" name="Text 7"/>
          <p:cNvSpPr/>
          <p:nvPr/>
        </p:nvSpPr>
        <p:spPr>
          <a:xfrm>
            <a:off x="531138" y="2738557"/>
            <a:ext cx="6619399"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Track overall sales performance and identify seasonal patterns or market shifts affecting business growth.</a:t>
            </a:r>
            <a:endParaRPr lang="en-US" sz="800" dirty="0"/>
          </a:p>
        </p:txBody>
      </p:sp>
      <p:sp>
        <p:nvSpPr>
          <p:cNvPr id="10" name="Shape 8"/>
          <p:cNvSpPr/>
          <p:nvPr/>
        </p:nvSpPr>
        <p:spPr>
          <a:xfrm>
            <a:off x="7367468" y="2409587"/>
            <a:ext cx="6844070" cy="608886"/>
          </a:xfrm>
          <a:prstGeom prst="roundRect">
            <a:avLst>
              <a:gd name="adj" fmla="val 7224"/>
            </a:avLst>
          </a:prstGeom>
          <a:solidFill>
            <a:srgbClr val="F4D4F7"/>
          </a:solidFill>
          <a:ln w="7620">
            <a:solidFill>
              <a:srgbClr val="DABADD"/>
            </a:solidFill>
            <a:prstDash val="solid"/>
          </a:ln>
        </p:spPr>
        <p:txBody>
          <a:bodyPr/>
          <a:lstStyle/>
          <a:p>
            <a:endParaRPr lang="en-IN"/>
          </a:p>
        </p:txBody>
      </p:sp>
      <p:sp>
        <p:nvSpPr>
          <p:cNvPr id="11" name="Text 9"/>
          <p:cNvSpPr/>
          <p:nvPr/>
        </p:nvSpPr>
        <p:spPr>
          <a:xfrm>
            <a:off x="7479744" y="2521863"/>
            <a:ext cx="1399342"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Evaluate Profit Margins</a:t>
            </a:r>
            <a:endParaRPr lang="en-US" sz="950" dirty="0"/>
          </a:p>
        </p:txBody>
      </p:sp>
      <p:sp>
        <p:nvSpPr>
          <p:cNvPr id="12" name="Text 10"/>
          <p:cNvSpPr/>
          <p:nvPr/>
        </p:nvSpPr>
        <p:spPr>
          <a:xfrm>
            <a:off x="7479744" y="2738557"/>
            <a:ext cx="6619518"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Analyze profitability across regions and customer segments to identify operational inefficiencies and cost optimization opportunities.</a:t>
            </a:r>
            <a:endParaRPr lang="en-US" sz="800" dirty="0"/>
          </a:p>
        </p:txBody>
      </p:sp>
      <p:sp>
        <p:nvSpPr>
          <p:cNvPr id="13" name="Shape 11"/>
          <p:cNvSpPr/>
          <p:nvPr/>
        </p:nvSpPr>
        <p:spPr>
          <a:xfrm>
            <a:off x="418862" y="3123128"/>
            <a:ext cx="6843951" cy="608886"/>
          </a:xfrm>
          <a:prstGeom prst="roundRect">
            <a:avLst>
              <a:gd name="adj" fmla="val 7224"/>
            </a:avLst>
          </a:prstGeom>
          <a:solidFill>
            <a:srgbClr val="F4D4F7"/>
          </a:solidFill>
          <a:ln w="7620">
            <a:solidFill>
              <a:srgbClr val="DABADD"/>
            </a:solidFill>
            <a:prstDash val="solid"/>
          </a:ln>
        </p:spPr>
        <p:txBody>
          <a:bodyPr/>
          <a:lstStyle/>
          <a:p>
            <a:endParaRPr lang="en-IN"/>
          </a:p>
        </p:txBody>
      </p:sp>
      <p:sp>
        <p:nvSpPr>
          <p:cNvPr id="14" name="Text 12"/>
          <p:cNvSpPr/>
          <p:nvPr/>
        </p:nvSpPr>
        <p:spPr>
          <a:xfrm>
            <a:off x="531138" y="3235404"/>
            <a:ext cx="1428393"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Identify Top Performers</a:t>
            </a:r>
            <a:endParaRPr lang="en-US" sz="950" dirty="0"/>
          </a:p>
        </p:txBody>
      </p:sp>
      <p:sp>
        <p:nvSpPr>
          <p:cNvPr id="15" name="Text 13"/>
          <p:cNvSpPr/>
          <p:nvPr/>
        </p:nvSpPr>
        <p:spPr>
          <a:xfrm>
            <a:off x="531138" y="3452098"/>
            <a:ext cx="6619399"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Spotlight high-performing markets, products, and customers driving the majority of revenue and profit contributions.</a:t>
            </a:r>
            <a:endParaRPr lang="en-US" sz="800" dirty="0"/>
          </a:p>
        </p:txBody>
      </p:sp>
      <p:sp>
        <p:nvSpPr>
          <p:cNvPr id="16" name="Shape 14"/>
          <p:cNvSpPr/>
          <p:nvPr/>
        </p:nvSpPr>
        <p:spPr>
          <a:xfrm>
            <a:off x="7367468" y="3123128"/>
            <a:ext cx="6844070" cy="608886"/>
          </a:xfrm>
          <a:prstGeom prst="roundRect">
            <a:avLst>
              <a:gd name="adj" fmla="val 7224"/>
            </a:avLst>
          </a:prstGeom>
          <a:solidFill>
            <a:srgbClr val="F4D4F7"/>
          </a:solidFill>
          <a:ln w="7620">
            <a:solidFill>
              <a:srgbClr val="DABADD"/>
            </a:solidFill>
            <a:prstDash val="solid"/>
          </a:ln>
        </p:spPr>
        <p:txBody>
          <a:bodyPr/>
          <a:lstStyle/>
          <a:p>
            <a:endParaRPr lang="en-IN"/>
          </a:p>
        </p:txBody>
      </p:sp>
      <p:sp>
        <p:nvSpPr>
          <p:cNvPr id="17" name="Text 15"/>
          <p:cNvSpPr/>
          <p:nvPr/>
        </p:nvSpPr>
        <p:spPr>
          <a:xfrm>
            <a:off x="7479744" y="3235404"/>
            <a:ext cx="1709976"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Track Year-over-Year Growth</a:t>
            </a:r>
            <a:endParaRPr lang="en-US" sz="950" dirty="0"/>
          </a:p>
        </p:txBody>
      </p:sp>
      <p:sp>
        <p:nvSpPr>
          <p:cNvPr id="18" name="Text 16"/>
          <p:cNvSpPr/>
          <p:nvPr/>
        </p:nvSpPr>
        <p:spPr>
          <a:xfrm>
            <a:off x="7479744" y="3452098"/>
            <a:ext cx="6619518"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Leverage historical data and time intelligence to compare current performance against previous periods and establish benchmarks.</a:t>
            </a:r>
            <a:endParaRPr lang="en-US" sz="800" dirty="0"/>
          </a:p>
        </p:txBody>
      </p:sp>
      <p:sp>
        <p:nvSpPr>
          <p:cNvPr id="19" name="Text 17"/>
          <p:cNvSpPr/>
          <p:nvPr/>
        </p:nvSpPr>
        <p:spPr>
          <a:xfrm>
            <a:off x="418862" y="3889058"/>
            <a:ext cx="3250168" cy="246459"/>
          </a:xfrm>
          <a:prstGeom prst="rect">
            <a:avLst/>
          </a:prstGeom>
          <a:noFill/>
          <a:ln/>
        </p:spPr>
        <p:txBody>
          <a:bodyPr wrap="none" lIns="0" tIns="0" rIns="0" bIns="0" rtlCol="0" anchor="t"/>
          <a:lstStyle/>
          <a:p>
            <a:pPr marL="0" indent="0" algn="l">
              <a:lnSpc>
                <a:spcPts val="1900"/>
              </a:lnSpc>
              <a:buNone/>
            </a:pPr>
            <a:r>
              <a:rPr lang="en-US" sz="1550" dirty="0">
                <a:solidFill>
                  <a:srgbClr val="D73AD7"/>
                </a:solidFill>
                <a:latin typeface="Source Serif 4 Semi Bold" pitchFamily="34" charset="0"/>
                <a:ea typeface="Source Serif 4 Semi Bold" pitchFamily="34" charset="-122"/>
                <a:cs typeface="Source Serif 4 Semi Bold" pitchFamily="34" charset="-120"/>
              </a:rPr>
              <a:t>Tools &amp; Technologies Architecture</a:t>
            </a:r>
            <a:endParaRPr lang="en-US" sz="1550" dirty="0"/>
          </a:p>
        </p:txBody>
      </p:sp>
      <p:sp>
        <p:nvSpPr>
          <p:cNvPr id="20" name="Text 18"/>
          <p:cNvSpPr/>
          <p:nvPr/>
        </p:nvSpPr>
        <p:spPr>
          <a:xfrm>
            <a:off x="418862" y="4397216"/>
            <a:ext cx="1232059" cy="153948"/>
          </a:xfrm>
          <a:prstGeom prst="rect">
            <a:avLst/>
          </a:prstGeom>
          <a:noFill/>
          <a:ln/>
        </p:spPr>
        <p:txBody>
          <a:bodyPr wrap="none" lIns="0" tIns="0" rIns="0" bIns="0" rtlCol="0" anchor="t"/>
          <a:lstStyle/>
          <a:p>
            <a:pPr marL="0" indent="0" algn="l">
              <a:lnSpc>
                <a:spcPts val="1200"/>
              </a:lnSpc>
              <a:buNone/>
            </a:pPr>
            <a:r>
              <a:rPr lang="en-US" sz="950" dirty="0">
                <a:solidFill>
                  <a:srgbClr val="D73AD7"/>
                </a:solidFill>
                <a:latin typeface="Source Serif 4 Semi Bold" pitchFamily="34" charset="0"/>
                <a:ea typeface="Source Serif 4 Semi Bold" pitchFamily="34" charset="-122"/>
                <a:cs typeface="Source Serif 4 Semi Bold" pitchFamily="34" charset="-120"/>
              </a:rPr>
              <a:t>Data Infrastructure</a:t>
            </a:r>
            <a:endParaRPr lang="en-US" sz="950" dirty="0"/>
          </a:p>
        </p:txBody>
      </p:sp>
      <p:sp>
        <p:nvSpPr>
          <p:cNvPr id="21" name="Text 19"/>
          <p:cNvSpPr/>
          <p:nvPr/>
        </p:nvSpPr>
        <p:spPr>
          <a:xfrm>
            <a:off x="418862" y="4655820"/>
            <a:ext cx="6768584" cy="167640"/>
          </a:xfrm>
          <a:prstGeom prst="rect">
            <a:avLst/>
          </a:prstGeom>
          <a:noFill/>
          <a:ln/>
        </p:spPr>
        <p:txBody>
          <a:bodyPr wrap="none" lIns="0" tIns="0" rIns="0" bIns="0" rtlCol="0" anchor="t"/>
          <a:lstStyle/>
          <a:p>
            <a:pPr marL="342900" indent="-342900" algn="l">
              <a:lnSpc>
                <a:spcPts val="1300"/>
              </a:lnSpc>
              <a:buSzPct val="100000"/>
              <a:buChar char="•"/>
            </a:pPr>
            <a:r>
              <a:rPr lang="en-US" sz="800" b="1" dirty="0">
                <a:solidFill>
                  <a:srgbClr val="272525"/>
                </a:solidFill>
                <a:latin typeface="Source Sans 3" pitchFamily="34" charset="0"/>
                <a:ea typeface="Source Sans 3" pitchFamily="34" charset="-122"/>
                <a:cs typeface="Source Sans 3" pitchFamily="34" charset="-120"/>
              </a:rPr>
              <a:t>SQL Database</a:t>
            </a:r>
            <a:r>
              <a:rPr lang="en-US" sz="800" dirty="0">
                <a:solidFill>
                  <a:srgbClr val="272525"/>
                </a:solidFill>
                <a:latin typeface="Source Sans 3" pitchFamily="34" charset="0"/>
                <a:ea typeface="Source Sans 3" pitchFamily="34" charset="-122"/>
                <a:cs typeface="Source Sans 3" pitchFamily="34" charset="-120"/>
              </a:rPr>
              <a:t> – Extraction and data cleansing at source</a:t>
            </a:r>
            <a:endParaRPr lang="en-US" sz="800" dirty="0"/>
          </a:p>
        </p:txBody>
      </p:sp>
      <p:sp>
        <p:nvSpPr>
          <p:cNvPr id="22" name="Text 20"/>
          <p:cNvSpPr/>
          <p:nvPr/>
        </p:nvSpPr>
        <p:spPr>
          <a:xfrm>
            <a:off x="418862" y="4860012"/>
            <a:ext cx="6768584" cy="167640"/>
          </a:xfrm>
          <a:prstGeom prst="rect">
            <a:avLst/>
          </a:prstGeom>
          <a:noFill/>
          <a:ln/>
        </p:spPr>
        <p:txBody>
          <a:bodyPr wrap="none" lIns="0" tIns="0" rIns="0" bIns="0" rtlCol="0" anchor="t"/>
          <a:lstStyle/>
          <a:p>
            <a:pPr marL="342900" indent="-342900" algn="l">
              <a:lnSpc>
                <a:spcPts val="1300"/>
              </a:lnSpc>
              <a:buSzPct val="100000"/>
              <a:buChar char="•"/>
            </a:pPr>
            <a:r>
              <a:rPr lang="en-US" sz="800" b="1" dirty="0">
                <a:solidFill>
                  <a:srgbClr val="272525"/>
                </a:solidFill>
                <a:latin typeface="Source Sans 3" pitchFamily="34" charset="0"/>
                <a:ea typeface="Source Sans 3" pitchFamily="34" charset="-122"/>
                <a:cs typeface="Source Sans 3" pitchFamily="34" charset="-120"/>
              </a:rPr>
              <a:t>Microsoft Excel/CSV</a:t>
            </a:r>
            <a:r>
              <a:rPr lang="en-US" sz="800" dirty="0">
                <a:solidFill>
                  <a:srgbClr val="272525"/>
                </a:solidFill>
                <a:latin typeface="Source Sans 3" pitchFamily="34" charset="0"/>
                <a:ea typeface="Source Sans 3" pitchFamily="34" charset="-122"/>
                <a:cs typeface="Source Sans 3" pitchFamily="34" charset="-120"/>
              </a:rPr>
              <a:t> – Intermediate validation and testing</a:t>
            </a:r>
            <a:endParaRPr lang="en-US" sz="800" dirty="0"/>
          </a:p>
        </p:txBody>
      </p:sp>
      <p:sp>
        <p:nvSpPr>
          <p:cNvPr id="23" name="Text 21"/>
          <p:cNvSpPr/>
          <p:nvPr/>
        </p:nvSpPr>
        <p:spPr>
          <a:xfrm>
            <a:off x="7450574" y="4397216"/>
            <a:ext cx="1483400" cy="153948"/>
          </a:xfrm>
          <a:prstGeom prst="rect">
            <a:avLst/>
          </a:prstGeom>
          <a:noFill/>
          <a:ln/>
        </p:spPr>
        <p:txBody>
          <a:bodyPr wrap="none" lIns="0" tIns="0" rIns="0" bIns="0" rtlCol="0" anchor="t"/>
          <a:lstStyle/>
          <a:p>
            <a:pPr marL="0" indent="0" algn="l">
              <a:lnSpc>
                <a:spcPts val="1200"/>
              </a:lnSpc>
              <a:buNone/>
            </a:pPr>
            <a:r>
              <a:rPr lang="en-US" sz="950" dirty="0">
                <a:solidFill>
                  <a:srgbClr val="D73AD7"/>
                </a:solidFill>
                <a:latin typeface="Source Serif 4 Semi Bold" pitchFamily="34" charset="0"/>
                <a:ea typeface="Source Serif 4 Semi Bold" pitchFamily="34" charset="-122"/>
                <a:cs typeface="Source Serif 4 Semi Bold" pitchFamily="34" charset="-120"/>
              </a:rPr>
              <a:t>Analytics &amp; Visualization</a:t>
            </a:r>
            <a:endParaRPr lang="en-US" sz="950" dirty="0"/>
          </a:p>
        </p:txBody>
      </p:sp>
      <p:sp>
        <p:nvSpPr>
          <p:cNvPr id="24" name="Text 22"/>
          <p:cNvSpPr/>
          <p:nvPr/>
        </p:nvSpPr>
        <p:spPr>
          <a:xfrm>
            <a:off x="7450574" y="4655820"/>
            <a:ext cx="6768584" cy="167640"/>
          </a:xfrm>
          <a:prstGeom prst="rect">
            <a:avLst/>
          </a:prstGeom>
          <a:noFill/>
          <a:ln/>
        </p:spPr>
        <p:txBody>
          <a:bodyPr wrap="none" lIns="0" tIns="0" rIns="0" bIns="0" rtlCol="0" anchor="t"/>
          <a:lstStyle/>
          <a:p>
            <a:pPr marL="342900" indent="-342900" algn="l">
              <a:lnSpc>
                <a:spcPts val="1300"/>
              </a:lnSpc>
              <a:buSzPct val="100000"/>
              <a:buChar char="•"/>
            </a:pPr>
            <a:r>
              <a:rPr lang="en-US" sz="800" b="1" dirty="0">
                <a:solidFill>
                  <a:srgbClr val="272525"/>
                </a:solidFill>
                <a:latin typeface="Source Sans 3" pitchFamily="34" charset="0"/>
                <a:ea typeface="Source Sans 3" pitchFamily="34" charset="-122"/>
                <a:cs typeface="Source Sans 3" pitchFamily="34" charset="-120"/>
              </a:rPr>
              <a:t>Power BI</a:t>
            </a:r>
            <a:r>
              <a:rPr lang="en-US" sz="800" dirty="0">
                <a:solidFill>
                  <a:srgbClr val="272525"/>
                </a:solidFill>
                <a:latin typeface="Source Sans 3" pitchFamily="34" charset="0"/>
                <a:ea typeface="Source Sans 3" pitchFamily="34" charset="-122"/>
                <a:cs typeface="Source Sans 3" pitchFamily="34" charset="-120"/>
              </a:rPr>
              <a:t> – Data modeling and interactive dashboarding</a:t>
            </a:r>
            <a:endParaRPr lang="en-US" sz="800" dirty="0"/>
          </a:p>
        </p:txBody>
      </p:sp>
      <p:sp>
        <p:nvSpPr>
          <p:cNvPr id="25" name="Text 23"/>
          <p:cNvSpPr/>
          <p:nvPr/>
        </p:nvSpPr>
        <p:spPr>
          <a:xfrm>
            <a:off x="7450574" y="4860012"/>
            <a:ext cx="6768584" cy="167640"/>
          </a:xfrm>
          <a:prstGeom prst="rect">
            <a:avLst/>
          </a:prstGeom>
          <a:noFill/>
          <a:ln/>
        </p:spPr>
        <p:txBody>
          <a:bodyPr wrap="none" lIns="0" tIns="0" rIns="0" bIns="0" rtlCol="0" anchor="t"/>
          <a:lstStyle/>
          <a:p>
            <a:pPr marL="342900" indent="-342900" algn="l">
              <a:lnSpc>
                <a:spcPts val="1300"/>
              </a:lnSpc>
              <a:buSzPct val="100000"/>
              <a:buChar char="•"/>
            </a:pPr>
            <a:r>
              <a:rPr lang="en-US" sz="800" b="1" dirty="0">
                <a:solidFill>
                  <a:srgbClr val="272525"/>
                </a:solidFill>
                <a:latin typeface="Source Sans 3" pitchFamily="34" charset="0"/>
                <a:ea typeface="Source Sans 3" pitchFamily="34" charset="-122"/>
                <a:cs typeface="Source Sans 3" pitchFamily="34" charset="-120"/>
              </a:rPr>
              <a:t>DAX</a:t>
            </a:r>
            <a:r>
              <a:rPr lang="en-US" sz="800" dirty="0">
                <a:solidFill>
                  <a:srgbClr val="272525"/>
                </a:solidFill>
                <a:latin typeface="Source Sans 3" pitchFamily="34" charset="0"/>
                <a:ea typeface="Source Sans 3" pitchFamily="34" charset="-122"/>
                <a:cs typeface="Source Sans 3" pitchFamily="34" charset="-120"/>
              </a:rPr>
              <a:t> – Advanced calculations and time intelligence</a:t>
            </a:r>
            <a:endParaRPr lang="en-US" sz="800" dirty="0"/>
          </a:p>
        </p:txBody>
      </p:sp>
      <p:sp>
        <p:nvSpPr>
          <p:cNvPr id="26" name="Text 24"/>
          <p:cNvSpPr/>
          <p:nvPr/>
        </p:nvSpPr>
        <p:spPr>
          <a:xfrm>
            <a:off x="418862" y="5221248"/>
            <a:ext cx="3184208" cy="246459"/>
          </a:xfrm>
          <a:prstGeom prst="rect">
            <a:avLst/>
          </a:prstGeom>
          <a:noFill/>
          <a:ln/>
        </p:spPr>
        <p:txBody>
          <a:bodyPr wrap="none" lIns="0" tIns="0" rIns="0" bIns="0" rtlCol="0" anchor="t"/>
          <a:lstStyle/>
          <a:p>
            <a:pPr marL="0" indent="0" algn="l">
              <a:lnSpc>
                <a:spcPts val="1900"/>
              </a:lnSpc>
              <a:buNone/>
            </a:pPr>
            <a:r>
              <a:rPr lang="en-US" sz="1550" dirty="0">
                <a:solidFill>
                  <a:srgbClr val="D73AD7"/>
                </a:solidFill>
                <a:latin typeface="Source Serif 4 Semi Bold" pitchFamily="34" charset="0"/>
                <a:ea typeface="Source Serif 4 Semi Bold" pitchFamily="34" charset="-122"/>
                <a:cs typeface="Source Serif 4 Semi Bold" pitchFamily="34" charset="-120"/>
              </a:rPr>
              <a:t>Key DAX Measures &amp; Calculations</a:t>
            </a:r>
            <a:endParaRPr lang="en-US" sz="1550" dirty="0"/>
          </a:p>
        </p:txBody>
      </p:sp>
      <p:sp>
        <p:nvSpPr>
          <p:cNvPr id="27" name="Text 25"/>
          <p:cNvSpPr/>
          <p:nvPr/>
        </p:nvSpPr>
        <p:spPr>
          <a:xfrm>
            <a:off x="418862" y="5624751"/>
            <a:ext cx="13792676"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Custom measures created to provide enterprise-level analytical capabilities and enable sophisticated time-based comparisons:</a:t>
            </a:r>
            <a:endParaRPr lang="en-US" sz="800" dirty="0"/>
          </a:p>
        </p:txBody>
      </p:sp>
      <p:sp>
        <p:nvSpPr>
          <p:cNvPr id="28" name="Shape 26"/>
          <p:cNvSpPr/>
          <p:nvPr/>
        </p:nvSpPr>
        <p:spPr>
          <a:xfrm>
            <a:off x="418862" y="5910143"/>
            <a:ext cx="4527709" cy="1084898"/>
          </a:xfrm>
          <a:prstGeom prst="roundRect">
            <a:avLst>
              <a:gd name="adj" fmla="val 4054"/>
            </a:avLst>
          </a:prstGeom>
          <a:solidFill>
            <a:srgbClr val="FFFFFF">
              <a:alpha val="95000"/>
            </a:srgbClr>
          </a:solidFill>
          <a:ln w="15240">
            <a:solidFill>
              <a:srgbClr val="DABADD"/>
            </a:solidFill>
            <a:prstDash val="solid"/>
          </a:ln>
        </p:spPr>
        <p:txBody>
          <a:bodyPr/>
          <a:lstStyle/>
          <a:p>
            <a:endParaRPr lang="en-IN"/>
          </a:p>
        </p:txBody>
      </p:sp>
      <p:sp>
        <p:nvSpPr>
          <p:cNvPr id="29" name="Text 27"/>
          <p:cNvSpPr/>
          <p:nvPr/>
        </p:nvSpPr>
        <p:spPr>
          <a:xfrm>
            <a:off x="538758" y="6030039"/>
            <a:ext cx="1291352"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Core Revenue Metrics</a:t>
            </a:r>
            <a:endParaRPr lang="en-US" sz="950" dirty="0"/>
          </a:p>
        </p:txBody>
      </p:sp>
      <p:sp>
        <p:nvSpPr>
          <p:cNvPr id="30" name="Text 28"/>
          <p:cNvSpPr/>
          <p:nvPr/>
        </p:nvSpPr>
        <p:spPr>
          <a:xfrm>
            <a:off x="538758" y="6246733"/>
            <a:ext cx="4287917" cy="167640"/>
          </a:xfrm>
          <a:prstGeom prst="rect">
            <a:avLst/>
          </a:prstGeom>
          <a:noFill/>
          <a:ln/>
        </p:spPr>
        <p:txBody>
          <a:bodyPr wrap="none" lIns="0" tIns="0" rIns="0" bIns="0" rtlCol="0" anchor="t"/>
          <a:lstStyle/>
          <a:p>
            <a:pPr marL="0" indent="0" algn="l">
              <a:lnSpc>
                <a:spcPts val="1300"/>
              </a:lnSpc>
              <a:buNone/>
            </a:pPr>
            <a:r>
              <a:rPr lang="en-US" sz="800" b="1" dirty="0">
                <a:solidFill>
                  <a:srgbClr val="272525"/>
                </a:solidFill>
                <a:latin typeface="Source Sans 3" pitchFamily="34" charset="0"/>
                <a:ea typeface="Source Sans 3" pitchFamily="34" charset="-122"/>
                <a:cs typeface="Source Sans 3" pitchFamily="34" charset="-120"/>
              </a:rPr>
              <a:t>Revenue:</a:t>
            </a:r>
            <a:r>
              <a:rPr lang="en-US" sz="800" dirty="0">
                <a:solidFill>
                  <a:srgbClr val="272525"/>
                </a:solidFill>
                <a:latin typeface="Source Sans 3" pitchFamily="34" charset="0"/>
                <a:ea typeface="Source Sans 3" pitchFamily="34" charset="-122"/>
                <a:cs typeface="Source Sans 3" pitchFamily="34" charset="-120"/>
              </a:rPr>
              <a:t> SUM('Sales Data'[Sales Amount])</a:t>
            </a:r>
            <a:endParaRPr lang="en-US" sz="800" dirty="0"/>
          </a:p>
        </p:txBody>
      </p:sp>
      <p:sp>
        <p:nvSpPr>
          <p:cNvPr id="31" name="Text 29"/>
          <p:cNvSpPr/>
          <p:nvPr/>
        </p:nvSpPr>
        <p:spPr>
          <a:xfrm>
            <a:off x="538758" y="6477119"/>
            <a:ext cx="4287917" cy="167640"/>
          </a:xfrm>
          <a:prstGeom prst="rect">
            <a:avLst/>
          </a:prstGeom>
          <a:noFill/>
          <a:ln/>
        </p:spPr>
        <p:txBody>
          <a:bodyPr wrap="none" lIns="0" tIns="0" rIns="0" bIns="0" rtlCol="0" anchor="t"/>
          <a:lstStyle/>
          <a:p>
            <a:pPr marL="0" indent="0" algn="l">
              <a:lnSpc>
                <a:spcPts val="1300"/>
              </a:lnSpc>
              <a:buNone/>
            </a:pPr>
            <a:r>
              <a:rPr lang="en-US" sz="800" b="1" dirty="0">
                <a:solidFill>
                  <a:srgbClr val="272525"/>
                </a:solidFill>
                <a:latin typeface="Source Sans 3" pitchFamily="34" charset="0"/>
                <a:ea typeface="Source Sans 3" pitchFamily="34" charset="-122"/>
                <a:cs typeface="Source Sans 3" pitchFamily="34" charset="-120"/>
              </a:rPr>
              <a:t>Sales Quantity:</a:t>
            </a:r>
            <a:r>
              <a:rPr lang="en-US" sz="800" dirty="0">
                <a:solidFill>
                  <a:srgbClr val="272525"/>
                </a:solidFill>
                <a:latin typeface="Source Sans 3" pitchFamily="34" charset="0"/>
                <a:ea typeface="Source Sans 3" pitchFamily="34" charset="-122"/>
                <a:cs typeface="Source Sans 3" pitchFamily="34" charset="-120"/>
              </a:rPr>
              <a:t> SUM('Sales Data'[Quantity])</a:t>
            </a:r>
            <a:endParaRPr lang="en-US" sz="800" dirty="0"/>
          </a:p>
        </p:txBody>
      </p:sp>
      <p:sp>
        <p:nvSpPr>
          <p:cNvPr id="32" name="Text 30"/>
          <p:cNvSpPr/>
          <p:nvPr/>
        </p:nvSpPr>
        <p:spPr>
          <a:xfrm>
            <a:off x="538758" y="6707505"/>
            <a:ext cx="4287917" cy="167640"/>
          </a:xfrm>
          <a:prstGeom prst="rect">
            <a:avLst/>
          </a:prstGeom>
          <a:noFill/>
          <a:ln/>
        </p:spPr>
        <p:txBody>
          <a:bodyPr wrap="none" lIns="0" tIns="0" rIns="0" bIns="0" rtlCol="0" anchor="t"/>
          <a:lstStyle/>
          <a:p>
            <a:pPr marL="0" indent="0" algn="l">
              <a:lnSpc>
                <a:spcPts val="1300"/>
              </a:lnSpc>
              <a:buNone/>
            </a:pPr>
            <a:r>
              <a:rPr lang="en-US" sz="800" b="1" dirty="0">
                <a:solidFill>
                  <a:srgbClr val="272525"/>
                </a:solidFill>
                <a:latin typeface="Source Sans 3" pitchFamily="34" charset="0"/>
                <a:ea typeface="Source Sans 3" pitchFamily="34" charset="-122"/>
                <a:cs typeface="Source Sans 3" pitchFamily="34" charset="-120"/>
              </a:rPr>
              <a:t>Profit Margin:</a:t>
            </a:r>
            <a:r>
              <a:rPr lang="en-US" sz="800" dirty="0">
                <a:solidFill>
                  <a:srgbClr val="272525"/>
                </a:solidFill>
                <a:latin typeface="Source Sans 3" pitchFamily="34" charset="0"/>
                <a:ea typeface="Source Sans 3" pitchFamily="34" charset="-122"/>
                <a:cs typeface="Source Sans 3" pitchFamily="34" charset="-120"/>
              </a:rPr>
              <a:t> [Profit] / [Revenue]</a:t>
            </a:r>
            <a:endParaRPr lang="en-US" sz="800" dirty="0"/>
          </a:p>
        </p:txBody>
      </p:sp>
      <p:sp>
        <p:nvSpPr>
          <p:cNvPr id="33" name="Shape 31"/>
          <p:cNvSpPr/>
          <p:nvPr/>
        </p:nvSpPr>
        <p:spPr>
          <a:xfrm>
            <a:off x="5051227" y="5910143"/>
            <a:ext cx="4527828" cy="1084898"/>
          </a:xfrm>
          <a:prstGeom prst="roundRect">
            <a:avLst>
              <a:gd name="adj" fmla="val 4054"/>
            </a:avLst>
          </a:prstGeom>
          <a:solidFill>
            <a:srgbClr val="FFFFFF">
              <a:alpha val="95000"/>
            </a:srgbClr>
          </a:solidFill>
          <a:ln w="15240">
            <a:solidFill>
              <a:srgbClr val="DABADD"/>
            </a:solidFill>
            <a:prstDash val="solid"/>
          </a:ln>
        </p:spPr>
        <p:txBody>
          <a:bodyPr/>
          <a:lstStyle/>
          <a:p>
            <a:endParaRPr lang="en-IN"/>
          </a:p>
        </p:txBody>
      </p:sp>
      <p:sp>
        <p:nvSpPr>
          <p:cNvPr id="34" name="Text 32"/>
          <p:cNvSpPr/>
          <p:nvPr/>
        </p:nvSpPr>
        <p:spPr>
          <a:xfrm>
            <a:off x="5171123" y="6030039"/>
            <a:ext cx="1397794"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Year-over-Year Analysis</a:t>
            </a:r>
            <a:endParaRPr lang="en-US" sz="950" dirty="0"/>
          </a:p>
        </p:txBody>
      </p:sp>
      <p:sp>
        <p:nvSpPr>
          <p:cNvPr id="35" name="Text 33"/>
          <p:cNvSpPr/>
          <p:nvPr/>
        </p:nvSpPr>
        <p:spPr>
          <a:xfrm>
            <a:off x="5171123" y="6246733"/>
            <a:ext cx="4288036" cy="167640"/>
          </a:xfrm>
          <a:prstGeom prst="rect">
            <a:avLst/>
          </a:prstGeom>
          <a:noFill/>
          <a:ln/>
        </p:spPr>
        <p:txBody>
          <a:bodyPr wrap="none" lIns="0" tIns="0" rIns="0" bIns="0" rtlCol="0" anchor="t"/>
          <a:lstStyle/>
          <a:p>
            <a:pPr marL="0" indent="0" algn="l">
              <a:lnSpc>
                <a:spcPts val="1300"/>
              </a:lnSpc>
              <a:buNone/>
            </a:pPr>
            <a:r>
              <a:rPr lang="en-US" sz="800" b="1" dirty="0">
                <a:solidFill>
                  <a:srgbClr val="272525"/>
                </a:solidFill>
                <a:latin typeface="Source Sans 3" pitchFamily="34" charset="0"/>
                <a:ea typeface="Source Sans 3" pitchFamily="34" charset="-122"/>
                <a:cs typeface="Source Sans 3" pitchFamily="34" charset="-120"/>
              </a:rPr>
              <a:t>Revenue LY:</a:t>
            </a:r>
            <a:r>
              <a:rPr lang="en-US" sz="800" dirty="0">
                <a:solidFill>
                  <a:srgbClr val="272525"/>
                </a:solidFill>
                <a:latin typeface="Source Sans 3" pitchFamily="34" charset="0"/>
                <a:ea typeface="Source Sans 3" pitchFamily="34" charset="-122"/>
                <a:cs typeface="Source Sans 3" pitchFamily="34" charset="-120"/>
              </a:rPr>
              <a:t> CALCULATE([Revenue], SAMEPERIODLASTYEAR('Sales Date'[Date]))</a:t>
            </a:r>
            <a:endParaRPr lang="en-US" sz="800" dirty="0"/>
          </a:p>
        </p:txBody>
      </p:sp>
      <p:sp>
        <p:nvSpPr>
          <p:cNvPr id="36" name="Text 34"/>
          <p:cNvSpPr/>
          <p:nvPr/>
        </p:nvSpPr>
        <p:spPr>
          <a:xfrm>
            <a:off x="5171123" y="6477119"/>
            <a:ext cx="4288036" cy="335280"/>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Enables direct comparison of current vs. previous year performance for accurate growth assessment.</a:t>
            </a:r>
            <a:endParaRPr lang="en-US" sz="800" dirty="0"/>
          </a:p>
        </p:txBody>
      </p:sp>
      <p:sp>
        <p:nvSpPr>
          <p:cNvPr id="37" name="Shape 35"/>
          <p:cNvSpPr/>
          <p:nvPr/>
        </p:nvSpPr>
        <p:spPr>
          <a:xfrm>
            <a:off x="9683710" y="5910143"/>
            <a:ext cx="4527828" cy="1084898"/>
          </a:xfrm>
          <a:prstGeom prst="roundRect">
            <a:avLst>
              <a:gd name="adj" fmla="val 4054"/>
            </a:avLst>
          </a:prstGeom>
          <a:solidFill>
            <a:srgbClr val="FFFFFF">
              <a:alpha val="95000"/>
            </a:srgbClr>
          </a:solidFill>
          <a:ln w="15240">
            <a:solidFill>
              <a:srgbClr val="DABADD"/>
            </a:solidFill>
            <a:prstDash val="solid"/>
          </a:ln>
        </p:spPr>
        <p:txBody>
          <a:bodyPr/>
          <a:lstStyle/>
          <a:p>
            <a:endParaRPr lang="en-IN"/>
          </a:p>
        </p:txBody>
      </p:sp>
      <p:sp>
        <p:nvSpPr>
          <p:cNvPr id="38" name="Text 36"/>
          <p:cNvSpPr/>
          <p:nvPr/>
        </p:nvSpPr>
        <p:spPr>
          <a:xfrm>
            <a:off x="9803606" y="6030039"/>
            <a:ext cx="1306354"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Contribution Analysis</a:t>
            </a:r>
            <a:endParaRPr lang="en-US" sz="950" dirty="0"/>
          </a:p>
        </p:txBody>
      </p:sp>
      <p:sp>
        <p:nvSpPr>
          <p:cNvPr id="39" name="Text 37"/>
          <p:cNvSpPr/>
          <p:nvPr/>
        </p:nvSpPr>
        <p:spPr>
          <a:xfrm>
            <a:off x="9803606" y="6246733"/>
            <a:ext cx="4288036" cy="167640"/>
          </a:xfrm>
          <a:prstGeom prst="rect">
            <a:avLst/>
          </a:prstGeom>
          <a:noFill/>
          <a:ln/>
        </p:spPr>
        <p:txBody>
          <a:bodyPr wrap="none" lIns="0" tIns="0" rIns="0" bIns="0" rtlCol="0" anchor="t"/>
          <a:lstStyle/>
          <a:p>
            <a:pPr marL="0" indent="0" algn="l">
              <a:lnSpc>
                <a:spcPts val="1300"/>
              </a:lnSpc>
              <a:buNone/>
            </a:pPr>
            <a:r>
              <a:rPr lang="en-US" sz="800" b="1" dirty="0">
                <a:solidFill>
                  <a:srgbClr val="272525"/>
                </a:solidFill>
                <a:latin typeface="Source Sans 3" pitchFamily="34" charset="0"/>
                <a:ea typeface="Source Sans 3" pitchFamily="34" charset="-122"/>
                <a:cs typeface="Source Sans 3" pitchFamily="34" charset="-120"/>
              </a:rPr>
              <a:t>Revenue Contribution %:</a:t>
            </a:r>
            <a:r>
              <a:rPr lang="en-US" sz="800" dirty="0">
                <a:solidFill>
                  <a:srgbClr val="272525"/>
                </a:solidFill>
                <a:latin typeface="Source Sans 3" pitchFamily="34" charset="0"/>
                <a:ea typeface="Source Sans 3" pitchFamily="34" charset="-122"/>
                <a:cs typeface="Source Sans 3" pitchFamily="34" charset="-120"/>
              </a:rPr>
              <a:t> DIVIDE([Revenue], CALCULATE([Revenue], ALL('Sales Data')))</a:t>
            </a:r>
            <a:endParaRPr lang="en-US" sz="800" dirty="0"/>
          </a:p>
        </p:txBody>
      </p:sp>
      <p:sp>
        <p:nvSpPr>
          <p:cNvPr id="40" name="Text 38"/>
          <p:cNvSpPr/>
          <p:nvPr/>
        </p:nvSpPr>
        <p:spPr>
          <a:xfrm>
            <a:off x="9803606" y="6477119"/>
            <a:ext cx="4288036" cy="167640"/>
          </a:xfrm>
          <a:prstGeom prst="rect">
            <a:avLst/>
          </a:prstGeom>
          <a:noFill/>
          <a:ln/>
        </p:spPr>
        <p:txBody>
          <a:bodyPr wrap="none" lIns="0" tIns="0" rIns="0" bIns="0" rtlCol="0" anchor="t"/>
          <a:lstStyle/>
          <a:p>
            <a:pPr marL="0" indent="0" algn="l">
              <a:lnSpc>
                <a:spcPts val="1300"/>
              </a:lnSpc>
              <a:buNone/>
            </a:pPr>
            <a:r>
              <a:rPr lang="en-US" sz="800" b="1" dirty="0">
                <a:solidFill>
                  <a:srgbClr val="272525"/>
                </a:solidFill>
                <a:latin typeface="Source Sans 3" pitchFamily="34" charset="0"/>
                <a:ea typeface="Source Sans 3" pitchFamily="34" charset="-122"/>
                <a:cs typeface="Source Sans 3" pitchFamily="34" charset="-120"/>
              </a:rPr>
              <a:t>Profit Contribution %:</a:t>
            </a:r>
            <a:r>
              <a:rPr lang="en-US" sz="800" dirty="0">
                <a:solidFill>
                  <a:srgbClr val="272525"/>
                </a:solidFill>
                <a:latin typeface="Source Sans 3" pitchFamily="34" charset="0"/>
                <a:ea typeface="Source Sans 3" pitchFamily="34" charset="-122"/>
                <a:cs typeface="Source Sans 3" pitchFamily="34" charset="-120"/>
              </a:rPr>
              <a:t> DIVIDE([Profit], CALCULATE([Profit], ALL('Sales Data')))</a:t>
            </a:r>
            <a:endParaRPr lang="en-US" sz="800" dirty="0"/>
          </a:p>
        </p:txBody>
      </p:sp>
      <p:sp>
        <p:nvSpPr>
          <p:cNvPr id="41" name="Text 39"/>
          <p:cNvSpPr/>
          <p:nvPr/>
        </p:nvSpPr>
        <p:spPr>
          <a:xfrm>
            <a:off x="418862" y="7152084"/>
            <a:ext cx="3301008" cy="246459"/>
          </a:xfrm>
          <a:prstGeom prst="rect">
            <a:avLst/>
          </a:prstGeom>
          <a:noFill/>
          <a:ln/>
        </p:spPr>
        <p:txBody>
          <a:bodyPr wrap="none" lIns="0" tIns="0" rIns="0" bIns="0" rtlCol="0" anchor="t"/>
          <a:lstStyle/>
          <a:p>
            <a:pPr marL="0" indent="0" algn="l">
              <a:lnSpc>
                <a:spcPts val="1900"/>
              </a:lnSpc>
              <a:buNone/>
            </a:pPr>
            <a:r>
              <a:rPr lang="en-US" sz="1550" dirty="0">
                <a:solidFill>
                  <a:srgbClr val="D73AD7"/>
                </a:solidFill>
                <a:latin typeface="Source Serif 4 Semi Bold" pitchFamily="34" charset="0"/>
                <a:ea typeface="Source Serif 4 Semi Bold" pitchFamily="34" charset="-122"/>
                <a:cs typeface="Source Serif 4 Semi Bold" pitchFamily="34" charset="-120"/>
              </a:rPr>
              <a:t>Dashboard Performance Summary</a:t>
            </a:r>
            <a:endParaRPr lang="en-US" sz="1550" dirty="0"/>
          </a:p>
        </p:txBody>
      </p:sp>
      <p:sp>
        <p:nvSpPr>
          <p:cNvPr id="42" name="Text 40"/>
          <p:cNvSpPr/>
          <p:nvPr/>
        </p:nvSpPr>
        <p:spPr>
          <a:xfrm>
            <a:off x="418862" y="7607856"/>
            <a:ext cx="4510326" cy="345519"/>
          </a:xfrm>
          <a:prstGeom prst="rect">
            <a:avLst/>
          </a:prstGeom>
          <a:noFill/>
          <a:ln/>
        </p:spPr>
        <p:txBody>
          <a:bodyPr wrap="none" lIns="0" tIns="0" rIns="0" bIns="0" rtlCol="0" anchor="t"/>
          <a:lstStyle/>
          <a:p>
            <a:pPr marL="0" indent="0" algn="ctr">
              <a:lnSpc>
                <a:spcPts val="2700"/>
              </a:lnSpc>
              <a:buNone/>
            </a:pPr>
            <a:r>
              <a:rPr lang="en-US" sz="2700" dirty="0">
                <a:solidFill>
                  <a:srgbClr val="272525"/>
                </a:solidFill>
                <a:latin typeface="Source Serif 4 Semi Bold" pitchFamily="34" charset="0"/>
                <a:ea typeface="Source Serif 4 Semi Bold" pitchFamily="34" charset="-122"/>
                <a:cs typeface="Source Serif 4 Semi Bold" pitchFamily="34" charset="-120"/>
              </a:rPr>
              <a:t>₹985M</a:t>
            </a:r>
            <a:endParaRPr lang="en-US" sz="2700" dirty="0"/>
          </a:p>
        </p:txBody>
      </p:sp>
      <p:sp>
        <p:nvSpPr>
          <p:cNvPr id="43" name="Text 41"/>
          <p:cNvSpPr/>
          <p:nvPr/>
        </p:nvSpPr>
        <p:spPr>
          <a:xfrm>
            <a:off x="2057995" y="8084106"/>
            <a:ext cx="1232059" cy="153948"/>
          </a:xfrm>
          <a:prstGeom prst="rect">
            <a:avLst/>
          </a:prstGeom>
          <a:noFill/>
          <a:ln/>
        </p:spPr>
        <p:txBody>
          <a:bodyPr wrap="none" lIns="0" tIns="0" rIns="0" bIns="0" rtlCol="0" anchor="t"/>
          <a:lstStyle/>
          <a:p>
            <a:pPr marL="0" indent="0" algn="ctr">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Total Revenue</a:t>
            </a:r>
            <a:endParaRPr lang="en-US" sz="950" dirty="0"/>
          </a:p>
        </p:txBody>
      </p:sp>
      <p:sp>
        <p:nvSpPr>
          <p:cNvPr id="44" name="Text 42"/>
          <p:cNvSpPr/>
          <p:nvPr/>
        </p:nvSpPr>
        <p:spPr>
          <a:xfrm>
            <a:off x="418862" y="8300799"/>
            <a:ext cx="4510326" cy="167640"/>
          </a:xfrm>
          <a:prstGeom prst="rect">
            <a:avLst/>
          </a:prstGeom>
          <a:noFill/>
          <a:ln/>
        </p:spPr>
        <p:txBody>
          <a:bodyPr wrap="none" lIns="0" tIns="0" rIns="0" bIns="0" rtlCol="0" anchor="t"/>
          <a:lstStyle/>
          <a:p>
            <a:pPr marL="0" indent="0" algn="ctr">
              <a:lnSpc>
                <a:spcPts val="1300"/>
              </a:lnSpc>
              <a:buNone/>
            </a:pPr>
            <a:r>
              <a:rPr lang="en-US" sz="800" dirty="0">
                <a:solidFill>
                  <a:srgbClr val="272525"/>
                </a:solidFill>
                <a:latin typeface="Source Sans 3" pitchFamily="34" charset="0"/>
                <a:ea typeface="Source Sans 3" pitchFamily="34" charset="-122"/>
                <a:cs typeface="Source Sans 3" pitchFamily="34" charset="-120"/>
              </a:rPr>
              <a:t>Annual sales across all markets and channels</a:t>
            </a:r>
            <a:endParaRPr lang="en-US" sz="800" dirty="0"/>
          </a:p>
        </p:txBody>
      </p:sp>
      <p:sp>
        <p:nvSpPr>
          <p:cNvPr id="45" name="Text 43"/>
          <p:cNvSpPr/>
          <p:nvPr/>
        </p:nvSpPr>
        <p:spPr>
          <a:xfrm>
            <a:off x="5060037" y="7607856"/>
            <a:ext cx="4510326" cy="345519"/>
          </a:xfrm>
          <a:prstGeom prst="rect">
            <a:avLst/>
          </a:prstGeom>
          <a:noFill/>
          <a:ln/>
        </p:spPr>
        <p:txBody>
          <a:bodyPr wrap="none" lIns="0" tIns="0" rIns="0" bIns="0" rtlCol="0" anchor="t"/>
          <a:lstStyle/>
          <a:p>
            <a:pPr marL="0" indent="0" algn="ctr">
              <a:lnSpc>
                <a:spcPts val="2700"/>
              </a:lnSpc>
              <a:buNone/>
            </a:pPr>
            <a:r>
              <a:rPr lang="en-US" sz="2700" dirty="0">
                <a:solidFill>
                  <a:srgbClr val="272525"/>
                </a:solidFill>
                <a:latin typeface="Source Serif 4 Semi Bold" pitchFamily="34" charset="0"/>
                <a:ea typeface="Source Serif 4 Semi Bold" pitchFamily="34" charset="-122"/>
                <a:cs typeface="Source Serif 4 Semi Bold" pitchFamily="34" charset="-120"/>
              </a:rPr>
              <a:t>2M</a:t>
            </a:r>
            <a:endParaRPr lang="en-US" sz="2700" dirty="0"/>
          </a:p>
        </p:txBody>
      </p:sp>
      <p:sp>
        <p:nvSpPr>
          <p:cNvPr id="46" name="Text 44"/>
          <p:cNvSpPr/>
          <p:nvPr/>
        </p:nvSpPr>
        <p:spPr>
          <a:xfrm>
            <a:off x="6699171" y="8084106"/>
            <a:ext cx="1232059" cy="153948"/>
          </a:xfrm>
          <a:prstGeom prst="rect">
            <a:avLst/>
          </a:prstGeom>
          <a:noFill/>
          <a:ln/>
        </p:spPr>
        <p:txBody>
          <a:bodyPr wrap="none" lIns="0" tIns="0" rIns="0" bIns="0" rtlCol="0" anchor="t"/>
          <a:lstStyle/>
          <a:p>
            <a:pPr marL="0" indent="0" algn="ctr">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Units Sold</a:t>
            </a:r>
            <a:endParaRPr lang="en-US" sz="950" dirty="0"/>
          </a:p>
        </p:txBody>
      </p:sp>
      <p:sp>
        <p:nvSpPr>
          <p:cNvPr id="47" name="Text 45"/>
          <p:cNvSpPr/>
          <p:nvPr/>
        </p:nvSpPr>
        <p:spPr>
          <a:xfrm>
            <a:off x="5060037" y="8300799"/>
            <a:ext cx="4510326" cy="167640"/>
          </a:xfrm>
          <a:prstGeom prst="rect">
            <a:avLst/>
          </a:prstGeom>
          <a:noFill/>
          <a:ln/>
        </p:spPr>
        <p:txBody>
          <a:bodyPr wrap="none" lIns="0" tIns="0" rIns="0" bIns="0" rtlCol="0" anchor="t"/>
          <a:lstStyle/>
          <a:p>
            <a:pPr marL="0" indent="0" algn="ctr">
              <a:lnSpc>
                <a:spcPts val="1300"/>
              </a:lnSpc>
              <a:buNone/>
            </a:pPr>
            <a:r>
              <a:rPr lang="en-US" sz="800" dirty="0">
                <a:solidFill>
                  <a:srgbClr val="272525"/>
                </a:solidFill>
                <a:latin typeface="Source Sans 3" pitchFamily="34" charset="0"/>
                <a:ea typeface="Source Sans 3" pitchFamily="34" charset="-122"/>
                <a:cs typeface="Source Sans 3" pitchFamily="34" charset="-120"/>
              </a:rPr>
              <a:t>Total volume of products transacted</a:t>
            </a:r>
            <a:endParaRPr lang="en-US" sz="800" dirty="0"/>
          </a:p>
        </p:txBody>
      </p:sp>
      <p:sp>
        <p:nvSpPr>
          <p:cNvPr id="48" name="Text 46"/>
          <p:cNvSpPr/>
          <p:nvPr/>
        </p:nvSpPr>
        <p:spPr>
          <a:xfrm>
            <a:off x="9701213" y="7607856"/>
            <a:ext cx="4510326" cy="345519"/>
          </a:xfrm>
          <a:prstGeom prst="rect">
            <a:avLst/>
          </a:prstGeom>
          <a:noFill/>
          <a:ln/>
        </p:spPr>
        <p:txBody>
          <a:bodyPr wrap="none" lIns="0" tIns="0" rIns="0" bIns="0" rtlCol="0" anchor="t"/>
          <a:lstStyle/>
          <a:p>
            <a:pPr marL="0" indent="0" algn="ctr">
              <a:lnSpc>
                <a:spcPts val="2700"/>
              </a:lnSpc>
              <a:buNone/>
            </a:pPr>
            <a:r>
              <a:rPr lang="en-US" sz="2700" dirty="0">
                <a:solidFill>
                  <a:srgbClr val="272525"/>
                </a:solidFill>
                <a:latin typeface="Source Serif 4 Semi Bold" pitchFamily="34" charset="0"/>
                <a:ea typeface="Source Serif 4 Semi Bold" pitchFamily="34" charset="-122"/>
                <a:cs typeface="Source Serif 4 Semi Bold" pitchFamily="34" charset="-120"/>
              </a:rPr>
              <a:t>₹25M</a:t>
            </a:r>
            <a:endParaRPr lang="en-US" sz="2700" dirty="0"/>
          </a:p>
        </p:txBody>
      </p:sp>
      <p:sp>
        <p:nvSpPr>
          <p:cNvPr id="49" name="Text 47"/>
          <p:cNvSpPr/>
          <p:nvPr/>
        </p:nvSpPr>
        <p:spPr>
          <a:xfrm>
            <a:off x="11340346" y="8084106"/>
            <a:ext cx="1232059" cy="153948"/>
          </a:xfrm>
          <a:prstGeom prst="rect">
            <a:avLst/>
          </a:prstGeom>
          <a:noFill/>
          <a:ln/>
        </p:spPr>
        <p:txBody>
          <a:bodyPr wrap="none" lIns="0" tIns="0" rIns="0" bIns="0" rtlCol="0" anchor="t"/>
          <a:lstStyle/>
          <a:p>
            <a:pPr marL="0" indent="0" algn="ctr">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Total Profit</a:t>
            </a:r>
            <a:endParaRPr lang="en-US" sz="950" dirty="0"/>
          </a:p>
        </p:txBody>
      </p:sp>
      <p:sp>
        <p:nvSpPr>
          <p:cNvPr id="50" name="Text 48"/>
          <p:cNvSpPr/>
          <p:nvPr/>
        </p:nvSpPr>
        <p:spPr>
          <a:xfrm>
            <a:off x="9701213" y="8300799"/>
            <a:ext cx="4510326" cy="167640"/>
          </a:xfrm>
          <a:prstGeom prst="rect">
            <a:avLst/>
          </a:prstGeom>
          <a:noFill/>
          <a:ln/>
        </p:spPr>
        <p:txBody>
          <a:bodyPr wrap="none" lIns="0" tIns="0" rIns="0" bIns="0" rtlCol="0" anchor="t"/>
          <a:lstStyle/>
          <a:p>
            <a:pPr marL="0" indent="0" algn="ctr">
              <a:lnSpc>
                <a:spcPts val="1300"/>
              </a:lnSpc>
              <a:buNone/>
            </a:pPr>
            <a:r>
              <a:rPr lang="en-US" sz="800" dirty="0">
                <a:solidFill>
                  <a:srgbClr val="272525"/>
                </a:solidFill>
                <a:latin typeface="Source Sans 3" pitchFamily="34" charset="0"/>
                <a:ea typeface="Source Sans 3" pitchFamily="34" charset="-122"/>
                <a:cs typeface="Source Sans 3" pitchFamily="34" charset="-120"/>
              </a:rPr>
              <a:t>Net profitability after operational costs</a:t>
            </a:r>
            <a:endParaRPr lang="en-US" sz="800" dirty="0"/>
          </a:p>
        </p:txBody>
      </p:sp>
      <p:sp>
        <p:nvSpPr>
          <p:cNvPr id="51" name="Text 49"/>
          <p:cNvSpPr/>
          <p:nvPr/>
        </p:nvSpPr>
        <p:spPr>
          <a:xfrm>
            <a:off x="418862" y="8625483"/>
            <a:ext cx="3289935" cy="246459"/>
          </a:xfrm>
          <a:prstGeom prst="rect">
            <a:avLst/>
          </a:prstGeom>
          <a:noFill/>
          <a:ln/>
        </p:spPr>
        <p:txBody>
          <a:bodyPr wrap="none" lIns="0" tIns="0" rIns="0" bIns="0" rtlCol="0" anchor="t"/>
          <a:lstStyle/>
          <a:p>
            <a:pPr marL="0" indent="0" algn="l">
              <a:lnSpc>
                <a:spcPts val="1900"/>
              </a:lnSpc>
              <a:buNone/>
            </a:pPr>
            <a:r>
              <a:rPr lang="en-US" sz="1550" dirty="0">
                <a:solidFill>
                  <a:srgbClr val="D73AD7"/>
                </a:solidFill>
                <a:latin typeface="Source Serif 4 Semi Bold" pitchFamily="34" charset="0"/>
                <a:ea typeface="Source Serif 4 Semi Bold" pitchFamily="34" charset="-122"/>
                <a:cs typeface="Source Serif 4 Semi Bold" pitchFamily="34" charset="-120"/>
              </a:rPr>
              <a:t>Geographic &amp; Market Performance</a:t>
            </a:r>
            <a:endParaRPr lang="en-US" sz="1550" dirty="0"/>
          </a:p>
        </p:txBody>
      </p:sp>
      <p:sp>
        <p:nvSpPr>
          <p:cNvPr id="52" name="Text 50"/>
          <p:cNvSpPr/>
          <p:nvPr/>
        </p:nvSpPr>
        <p:spPr>
          <a:xfrm>
            <a:off x="418862" y="9028986"/>
            <a:ext cx="13792676" cy="335280"/>
          </a:xfrm>
          <a:prstGeom prst="rect">
            <a:avLst/>
          </a:prstGeom>
          <a:noFill/>
          <a:ln/>
        </p:spPr>
        <p:txBody>
          <a:bodyPr wrap="square" lIns="0" tIns="0" rIns="0" bIns="0" rtlCol="0" anchor="t"/>
          <a:lstStyle/>
          <a:p>
            <a:pPr marL="0" indent="0" algn="l">
              <a:lnSpc>
                <a:spcPts val="1300"/>
              </a:lnSpc>
              <a:buNone/>
            </a:pPr>
            <a:r>
              <a:rPr lang="en-US" sz="800" b="1" dirty="0">
                <a:solidFill>
                  <a:srgbClr val="272525"/>
                </a:solidFill>
                <a:latin typeface="Source Sans 3" pitchFamily="34" charset="0"/>
                <a:ea typeface="Source Sans 3" pitchFamily="34" charset="-122"/>
                <a:cs typeface="Source Sans 3" pitchFamily="34" charset="-120"/>
              </a:rPr>
              <a:t>Regional Leadership:</a:t>
            </a:r>
            <a:r>
              <a:rPr lang="en-US" sz="800" dirty="0">
                <a:solidFill>
                  <a:srgbClr val="272525"/>
                </a:solidFill>
                <a:latin typeface="Source Sans 3" pitchFamily="34" charset="0"/>
                <a:ea typeface="Source Sans 3" pitchFamily="34" charset="-122"/>
                <a:cs typeface="Source Sans 3" pitchFamily="34" charset="-120"/>
              </a:rPr>
              <a:t> Delhi dominates with 52.8% of total revenue and 48.5% profit contribution, establishing itself as the company's primary profit engine. Mumbai (15%) and Ahmedabad (13%) follow, representing secondary growth markets. Regionally, the South Zone leads with 5.8% revenue share, followed by Central (2.2%) and North (0.9%).</a:t>
            </a:r>
            <a:endParaRPr lang="en-US" sz="800" dirty="0"/>
          </a:p>
        </p:txBody>
      </p:sp>
      <p:sp>
        <p:nvSpPr>
          <p:cNvPr id="53" name="Text 51"/>
          <p:cNvSpPr/>
          <p:nvPr/>
        </p:nvSpPr>
        <p:spPr>
          <a:xfrm>
            <a:off x="418862" y="9482018"/>
            <a:ext cx="13792676" cy="167640"/>
          </a:xfrm>
          <a:prstGeom prst="rect">
            <a:avLst/>
          </a:prstGeom>
          <a:noFill/>
          <a:ln/>
        </p:spPr>
        <p:txBody>
          <a:bodyPr wrap="none" lIns="0" tIns="0" rIns="0" bIns="0" rtlCol="0" anchor="t"/>
          <a:lstStyle/>
          <a:p>
            <a:pPr marL="0" indent="0" algn="l">
              <a:lnSpc>
                <a:spcPts val="1300"/>
              </a:lnSpc>
              <a:buNone/>
            </a:pPr>
            <a:r>
              <a:rPr lang="en-US" sz="800" b="1" dirty="0">
                <a:solidFill>
                  <a:srgbClr val="272525"/>
                </a:solidFill>
                <a:latin typeface="Source Sans 3" pitchFamily="34" charset="0"/>
                <a:ea typeface="Source Sans 3" pitchFamily="34" charset="-122"/>
                <a:cs typeface="Source Sans 3" pitchFamily="34" charset="-120"/>
              </a:rPr>
              <a:t>Performance Challenges:</a:t>
            </a:r>
            <a:r>
              <a:rPr lang="en-US" sz="800" dirty="0">
                <a:solidFill>
                  <a:srgbClr val="272525"/>
                </a:solidFill>
                <a:latin typeface="Source Sans 3" pitchFamily="34" charset="0"/>
                <a:ea typeface="Source Sans 3" pitchFamily="34" charset="-122"/>
                <a:cs typeface="Source Sans 3" pitchFamily="34" charset="-120"/>
              </a:rPr>
              <a:t> Markets including Bengaluru and Kanpur show negative profit margins despite generating volume, indicating structural cost or pricing inefficiencies requiring immediate attention and strategic intervention.</a:t>
            </a:r>
            <a:endParaRPr lang="en-US" sz="800" dirty="0"/>
          </a:p>
        </p:txBody>
      </p:sp>
      <p:sp>
        <p:nvSpPr>
          <p:cNvPr id="54" name="Text 52"/>
          <p:cNvSpPr/>
          <p:nvPr/>
        </p:nvSpPr>
        <p:spPr>
          <a:xfrm>
            <a:off x="418862" y="9806702"/>
            <a:ext cx="3893344" cy="246459"/>
          </a:xfrm>
          <a:prstGeom prst="rect">
            <a:avLst/>
          </a:prstGeom>
          <a:noFill/>
          <a:ln/>
        </p:spPr>
        <p:txBody>
          <a:bodyPr wrap="none" lIns="0" tIns="0" rIns="0" bIns="0" rtlCol="0" anchor="t"/>
          <a:lstStyle/>
          <a:p>
            <a:pPr marL="0" indent="0" algn="l">
              <a:lnSpc>
                <a:spcPts val="1900"/>
              </a:lnSpc>
              <a:buNone/>
            </a:pPr>
            <a:r>
              <a:rPr lang="en-US" sz="1550" dirty="0">
                <a:solidFill>
                  <a:srgbClr val="D73AD7"/>
                </a:solidFill>
                <a:latin typeface="Source Serif 4 Semi Bold" pitchFamily="34" charset="0"/>
                <a:ea typeface="Source Serif 4 Semi Bold" pitchFamily="34" charset="-122"/>
                <a:cs typeface="Source Serif 4 Semi Bold" pitchFamily="34" charset="-120"/>
              </a:rPr>
              <a:t>Customer Concentration &amp; Segmentation</a:t>
            </a:r>
            <a:endParaRPr lang="en-US" sz="1550" dirty="0"/>
          </a:p>
        </p:txBody>
      </p:sp>
      <p:sp>
        <p:nvSpPr>
          <p:cNvPr id="55" name="Text 53"/>
          <p:cNvSpPr/>
          <p:nvPr/>
        </p:nvSpPr>
        <p:spPr>
          <a:xfrm>
            <a:off x="418862" y="10094952"/>
            <a:ext cx="2135386" cy="153948"/>
          </a:xfrm>
          <a:prstGeom prst="rect">
            <a:avLst/>
          </a:prstGeom>
          <a:noFill/>
          <a:ln/>
        </p:spPr>
        <p:txBody>
          <a:bodyPr wrap="none" lIns="0" tIns="0" rIns="0" bIns="0" rtlCol="0" anchor="t"/>
          <a:lstStyle/>
          <a:p>
            <a:pPr marL="0" indent="0" algn="l">
              <a:lnSpc>
                <a:spcPts val="1200"/>
              </a:lnSpc>
              <a:buNone/>
            </a:pPr>
            <a:r>
              <a:rPr lang="en-US" sz="950" dirty="0">
                <a:solidFill>
                  <a:srgbClr val="D73AD7"/>
                </a:solidFill>
                <a:latin typeface="Source Serif 4 Semi Bold" pitchFamily="34" charset="0"/>
                <a:ea typeface="Source Serif 4 Semi Bold" pitchFamily="34" charset="-122"/>
                <a:cs typeface="Source Serif 4 Semi Bold" pitchFamily="34" charset="-120"/>
              </a:rPr>
              <a:t>Top Revenue-Generating Customers</a:t>
            </a:r>
            <a:endParaRPr lang="en-US" sz="950" dirty="0"/>
          </a:p>
        </p:txBody>
      </p:sp>
      <p:sp>
        <p:nvSpPr>
          <p:cNvPr id="56" name="Shape 54"/>
          <p:cNvSpPr/>
          <p:nvPr/>
        </p:nvSpPr>
        <p:spPr>
          <a:xfrm>
            <a:off x="418862" y="10405943"/>
            <a:ext cx="13792676" cy="1865471"/>
          </a:xfrm>
          <a:prstGeom prst="roundRect">
            <a:avLst>
              <a:gd name="adj" fmla="val 2358"/>
            </a:avLst>
          </a:prstGeom>
          <a:noFill/>
          <a:ln w="7620">
            <a:solidFill>
              <a:srgbClr val="000000">
                <a:alpha val="8000"/>
              </a:srgbClr>
            </a:solidFill>
            <a:prstDash val="solid"/>
          </a:ln>
        </p:spPr>
        <p:txBody>
          <a:bodyPr/>
          <a:lstStyle/>
          <a:p>
            <a:endParaRPr lang="en-IN"/>
          </a:p>
        </p:txBody>
      </p:sp>
      <p:sp>
        <p:nvSpPr>
          <p:cNvPr id="57" name="Shape 55"/>
          <p:cNvSpPr/>
          <p:nvPr/>
        </p:nvSpPr>
        <p:spPr>
          <a:xfrm>
            <a:off x="426482" y="10413563"/>
            <a:ext cx="13777436" cy="308372"/>
          </a:xfrm>
          <a:prstGeom prst="rect">
            <a:avLst/>
          </a:prstGeom>
          <a:solidFill>
            <a:srgbClr val="FFFFFF">
              <a:alpha val="4000"/>
            </a:srgbClr>
          </a:solidFill>
          <a:ln/>
        </p:spPr>
        <p:txBody>
          <a:bodyPr/>
          <a:lstStyle/>
          <a:p>
            <a:endParaRPr lang="en-IN"/>
          </a:p>
        </p:txBody>
      </p:sp>
      <p:sp>
        <p:nvSpPr>
          <p:cNvPr id="58" name="Text 56"/>
          <p:cNvSpPr/>
          <p:nvPr/>
        </p:nvSpPr>
        <p:spPr>
          <a:xfrm>
            <a:off x="531138" y="10483929"/>
            <a:ext cx="6675596" cy="167640"/>
          </a:xfrm>
          <a:prstGeom prst="rect">
            <a:avLst/>
          </a:prstGeom>
          <a:noFill/>
          <a:ln/>
        </p:spPr>
        <p:txBody>
          <a:bodyPr wrap="none" lIns="0" tIns="0" rIns="0" bIns="0" rtlCol="0" anchor="t"/>
          <a:lstStyle/>
          <a:p>
            <a:pPr marL="0" indent="0" algn="l">
              <a:lnSpc>
                <a:spcPts val="1300"/>
              </a:lnSpc>
              <a:buNone/>
            </a:pPr>
            <a:r>
              <a:rPr lang="en-US" sz="800" b="1" dirty="0">
                <a:solidFill>
                  <a:srgbClr val="272525"/>
                </a:solidFill>
                <a:latin typeface="Source Sans 3" pitchFamily="34" charset="0"/>
                <a:ea typeface="Source Sans 3" pitchFamily="34" charset="-122"/>
                <a:cs typeface="Source Sans 3" pitchFamily="34" charset="-120"/>
              </a:rPr>
              <a:t>Customer Name</a:t>
            </a:r>
            <a:endParaRPr lang="en-US" sz="800" dirty="0"/>
          </a:p>
        </p:txBody>
      </p:sp>
      <p:sp>
        <p:nvSpPr>
          <p:cNvPr id="59" name="Text 57"/>
          <p:cNvSpPr/>
          <p:nvPr/>
        </p:nvSpPr>
        <p:spPr>
          <a:xfrm>
            <a:off x="7423666" y="10483929"/>
            <a:ext cx="6675596" cy="167640"/>
          </a:xfrm>
          <a:prstGeom prst="rect">
            <a:avLst/>
          </a:prstGeom>
          <a:noFill/>
          <a:ln/>
        </p:spPr>
        <p:txBody>
          <a:bodyPr wrap="none" lIns="0" tIns="0" rIns="0" bIns="0" rtlCol="0" anchor="t"/>
          <a:lstStyle/>
          <a:p>
            <a:pPr marL="0" indent="0" algn="l">
              <a:lnSpc>
                <a:spcPts val="1300"/>
              </a:lnSpc>
              <a:buNone/>
            </a:pPr>
            <a:r>
              <a:rPr lang="en-US" sz="800" b="1" dirty="0">
                <a:solidFill>
                  <a:srgbClr val="272525"/>
                </a:solidFill>
                <a:latin typeface="Source Sans 3" pitchFamily="34" charset="0"/>
                <a:ea typeface="Source Sans 3" pitchFamily="34" charset="-122"/>
                <a:cs typeface="Source Sans 3" pitchFamily="34" charset="-120"/>
              </a:rPr>
              <a:t>Revenue Contribution</a:t>
            </a:r>
            <a:endParaRPr lang="en-US" sz="800" dirty="0"/>
          </a:p>
        </p:txBody>
      </p:sp>
      <p:sp>
        <p:nvSpPr>
          <p:cNvPr id="60" name="Shape 58"/>
          <p:cNvSpPr/>
          <p:nvPr/>
        </p:nvSpPr>
        <p:spPr>
          <a:xfrm>
            <a:off x="426482" y="10721935"/>
            <a:ext cx="13777436" cy="308372"/>
          </a:xfrm>
          <a:prstGeom prst="rect">
            <a:avLst/>
          </a:prstGeom>
          <a:solidFill>
            <a:srgbClr val="000000">
              <a:alpha val="4000"/>
            </a:srgbClr>
          </a:solidFill>
          <a:ln/>
        </p:spPr>
        <p:txBody>
          <a:bodyPr/>
          <a:lstStyle/>
          <a:p>
            <a:endParaRPr lang="en-IN"/>
          </a:p>
        </p:txBody>
      </p:sp>
      <p:sp>
        <p:nvSpPr>
          <p:cNvPr id="61" name="Text 59"/>
          <p:cNvSpPr/>
          <p:nvPr/>
        </p:nvSpPr>
        <p:spPr>
          <a:xfrm>
            <a:off x="531138" y="10792301"/>
            <a:ext cx="6675596"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Electricalsara Stores</a:t>
            </a:r>
            <a:endParaRPr lang="en-US" sz="800" dirty="0"/>
          </a:p>
        </p:txBody>
      </p:sp>
      <p:sp>
        <p:nvSpPr>
          <p:cNvPr id="62" name="Text 60"/>
          <p:cNvSpPr/>
          <p:nvPr/>
        </p:nvSpPr>
        <p:spPr>
          <a:xfrm>
            <a:off x="7423666" y="10792301"/>
            <a:ext cx="6675596"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₹413M</a:t>
            </a:r>
            <a:endParaRPr lang="en-US" sz="800" dirty="0"/>
          </a:p>
        </p:txBody>
      </p:sp>
      <p:sp>
        <p:nvSpPr>
          <p:cNvPr id="63" name="Shape 61"/>
          <p:cNvSpPr/>
          <p:nvPr/>
        </p:nvSpPr>
        <p:spPr>
          <a:xfrm>
            <a:off x="426482" y="11030307"/>
            <a:ext cx="13777436" cy="308372"/>
          </a:xfrm>
          <a:prstGeom prst="rect">
            <a:avLst/>
          </a:prstGeom>
          <a:solidFill>
            <a:srgbClr val="FFFFFF">
              <a:alpha val="4000"/>
            </a:srgbClr>
          </a:solidFill>
          <a:ln/>
        </p:spPr>
        <p:txBody>
          <a:bodyPr/>
          <a:lstStyle/>
          <a:p>
            <a:endParaRPr lang="en-IN"/>
          </a:p>
        </p:txBody>
      </p:sp>
      <p:sp>
        <p:nvSpPr>
          <p:cNvPr id="64" name="Text 62"/>
          <p:cNvSpPr/>
          <p:nvPr/>
        </p:nvSpPr>
        <p:spPr>
          <a:xfrm>
            <a:off x="531138" y="11100673"/>
            <a:ext cx="6675596"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Electricalslytical</a:t>
            </a:r>
            <a:endParaRPr lang="en-US" sz="800" dirty="0"/>
          </a:p>
        </p:txBody>
      </p:sp>
      <p:sp>
        <p:nvSpPr>
          <p:cNvPr id="65" name="Text 63"/>
          <p:cNvSpPr/>
          <p:nvPr/>
        </p:nvSpPr>
        <p:spPr>
          <a:xfrm>
            <a:off x="7423666" y="11100673"/>
            <a:ext cx="6675596"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₹50M</a:t>
            </a:r>
            <a:endParaRPr lang="en-US" sz="800" dirty="0"/>
          </a:p>
        </p:txBody>
      </p:sp>
      <p:sp>
        <p:nvSpPr>
          <p:cNvPr id="66" name="Shape 64"/>
          <p:cNvSpPr/>
          <p:nvPr/>
        </p:nvSpPr>
        <p:spPr>
          <a:xfrm>
            <a:off x="426482" y="11338679"/>
            <a:ext cx="13777436" cy="308372"/>
          </a:xfrm>
          <a:prstGeom prst="rect">
            <a:avLst/>
          </a:prstGeom>
          <a:solidFill>
            <a:srgbClr val="000000">
              <a:alpha val="4000"/>
            </a:srgbClr>
          </a:solidFill>
          <a:ln/>
        </p:spPr>
        <p:txBody>
          <a:bodyPr/>
          <a:lstStyle/>
          <a:p>
            <a:endParaRPr lang="en-IN"/>
          </a:p>
        </p:txBody>
      </p:sp>
      <p:sp>
        <p:nvSpPr>
          <p:cNvPr id="67" name="Text 65"/>
          <p:cNvSpPr/>
          <p:nvPr/>
        </p:nvSpPr>
        <p:spPr>
          <a:xfrm>
            <a:off x="531138" y="11409045"/>
            <a:ext cx="6675596"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Excel Stores</a:t>
            </a:r>
            <a:endParaRPr lang="en-US" sz="800" dirty="0"/>
          </a:p>
        </p:txBody>
      </p:sp>
      <p:sp>
        <p:nvSpPr>
          <p:cNvPr id="68" name="Text 66"/>
          <p:cNvSpPr/>
          <p:nvPr/>
        </p:nvSpPr>
        <p:spPr>
          <a:xfrm>
            <a:off x="7423666" y="11409045"/>
            <a:ext cx="6675596"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₹49M</a:t>
            </a:r>
            <a:endParaRPr lang="en-US" sz="800" dirty="0"/>
          </a:p>
        </p:txBody>
      </p:sp>
      <p:sp>
        <p:nvSpPr>
          <p:cNvPr id="69" name="Shape 67"/>
          <p:cNvSpPr/>
          <p:nvPr/>
        </p:nvSpPr>
        <p:spPr>
          <a:xfrm>
            <a:off x="426482" y="11647051"/>
            <a:ext cx="13777436" cy="308372"/>
          </a:xfrm>
          <a:prstGeom prst="rect">
            <a:avLst/>
          </a:prstGeom>
          <a:solidFill>
            <a:srgbClr val="FFFFFF">
              <a:alpha val="4000"/>
            </a:srgbClr>
          </a:solidFill>
          <a:ln/>
        </p:spPr>
        <p:txBody>
          <a:bodyPr/>
          <a:lstStyle/>
          <a:p>
            <a:endParaRPr lang="en-IN"/>
          </a:p>
        </p:txBody>
      </p:sp>
      <p:sp>
        <p:nvSpPr>
          <p:cNvPr id="70" name="Text 68"/>
          <p:cNvSpPr/>
          <p:nvPr/>
        </p:nvSpPr>
        <p:spPr>
          <a:xfrm>
            <a:off x="531138" y="11717417"/>
            <a:ext cx="6675596"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Premium Stores</a:t>
            </a:r>
            <a:endParaRPr lang="en-US" sz="800" dirty="0"/>
          </a:p>
        </p:txBody>
      </p:sp>
      <p:sp>
        <p:nvSpPr>
          <p:cNvPr id="71" name="Text 69"/>
          <p:cNvSpPr/>
          <p:nvPr/>
        </p:nvSpPr>
        <p:spPr>
          <a:xfrm>
            <a:off x="7423666" y="11717417"/>
            <a:ext cx="6675596"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₹45M</a:t>
            </a:r>
            <a:endParaRPr lang="en-US" sz="800" dirty="0"/>
          </a:p>
        </p:txBody>
      </p:sp>
      <p:sp>
        <p:nvSpPr>
          <p:cNvPr id="72" name="Shape 70"/>
          <p:cNvSpPr/>
          <p:nvPr/>
        </p:nvSpPr>
        <p:spPr>
          <a:xfrm>
            <a:off x="426482" y="11955423"/>
            <a:ext cx="13777436" cy="308372"/>
          </a:xfrm>
          <a:prstGeom prst="rect">
            <a:avLst/>
          </a:prstGeom>
          <a:solidFill>
            <a:srgbClr val="000000">
              <a:alpha val="4000"/>
            </a:srgbClr>
          </a:solidFill>
          <a:ln/>
        </p:spPr>
        <p:txBody>
          <a:bodyPr/>
          <a:lstStyle/>
          <a:p>
            <a:endParaRPr lang="en-IN"/>
          </a:p>
        </p:txBody>
      </p:sp>
      <p:sp>
        <p:nvSpPr>
          <p:cNvPr id="73" name="Text 71"/>
          <p:cNvSpPr/>
          <p:nvPr/>
        </p:nvSpPr>
        <p:spPr>
          <a:xfrm>
            <a:off x="531138" y="12025789"/>
            <a:ext cx="6675596"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Nixon</a:t>
            </a:r>
            <a:endParaRPr lang="en-US" sz="800" dirty="0"/>
          </a:p>
        </p:txBody>
      </p:sp>
      <p:sp>
        <p:nvSpPr>
          <p:cNvPr id="74" name="Text 72"/>
          <p:cNvSpPr/>
          <p:nvPr/>
        </p:nvSpPr>
        <p:spPr>
          <a:xfrm>
            <a:off x="7423666" y="12025789"/>
            <a:ext cx="6675596"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₹44M</a:t>
            </a:r>
            <a:endParaRPr lang="en-US" sz="800" dirty="0"/>
          </a:p>
        </p:txBody>
      </p:sp>
      <p:sp>
        <p:nvSpPr>
          <p:cNvPr id="75" name="Text 73"/>
          <p:cNvSpPr/>
          <p:nvPr/>
        </p:nvSpPr>
        <p:spPr>
          <a:xfrm>
            <a:off x="418862" y="12389168"/>
            <a:ext cx="13792676" cy="167640"/>
          </a:xfrm>
          <a:prstGeom prst="rect">
            <a:avLst/>
          </a:prstGeom>
          <a:noFill/>
          <a:ln/>
        </p:spPr>
        <p:txBody>
          <a:bodyPr wrap="none" lIns="0" tIns="0" rIns="0" bIns="0" rtlCol="0" anchor="t"/>
          <a:lstStyle/>
          <a:p>
            <a:pPr marL="0" indent="0" algn="l">
              <a:lnSpc>
                <a:spcPts val="1300"/>
              </a:lnSpc>
              <a:buNone/>
            </a:pPr>
            <a:r>
              <a:rPr lang="en-US" sz="800" b="1" dirty="0">
                <a:solidFill>
                  <a:srgbClr val="272525"/>
                </a:solidFill>
                <a:latin typeface="Source Sans 3" pitchFamily="34" charset="0"/>
                <a:ea typeface="Source Sans 3" pitchFamily="34" charset="-122"/>
                <a:cs typeface="Source Sans 3" pitchFamily="34" charset="-120"/>
              </a:rPr>
              <a:t>Concentration Risk:</a:t>
            </a:r>
            <a:r>
              <a:rPr lang="en-US" sz="800" dirty="0">
                <a:solidFill>
                  <a:srgbClr val="272525"/>
                </a:solidFill>
                <a:latin typeface="Source Sans 3" pitchFamily="34" charset="0"/>
                <a:ea typeface="Source Sans 3" pitchFamily="34" charset="-122"/>
                <a:cs typeface="Source Sans 3" pitchFamily="34" charset="-120"/>
              </a:rPr>
              <a:t> The top five customers represent a significant portion of total revenue, creating business vulnerability. Electricalsara Stores alone accounts for substantial revenue dependency. This concentration necessitates diversification strategies and risk mitigation planning.</a:t>
            </a:r>
            <a:endParaRPr lang="en-US" sz="800" dirty="0"/>
          </a:p>
        </p:txBody>
      </p:sp>
      <p:sp>
        <p:nvSpPr>
          <p:cNvPr id="76" name="Text 74"/>
          <p:cNvSpPr/>
          <p:nvPr/>
        </p:nvSpPr>
        <p:spPr>
          <a:xfrm>
            <a:off x="418862" y="12713851"/>
            <a:ext cx="1830705" cy="153948"/>
          </a:xfrm>
          <a:prstGeom prst="rect">
            <a:avLst/>
          </a:prstGeom>
          <a:noFill/>
          <a:ln/>
        </p:spPr>
        <p:txBody>
          <a:bodyPr wrap="none" lIns="0" tIns="0" rIns="0" bIns="0" rtlCol="0" anchor="t"/>
          <a:lstStyle/>
          <a:p>
            <a:pPr marL="0" indent="0" algn="l">
              <a:lnSpc>
                <a:spcPts val="1200"/>
              </a:lnSpc>
              <a:buNone/>
            </a:pPr>
            <a:r>
              <a:rPr lang="en-US" sz="950" dirty="0">
                <a:solidFill>
                  <a:srgbClr val="D73AD7"/>
                </a:solidFill>
                <a:latin typeface="Source Serif 4 Semi Bold" pitchFamily="34" charset="0"/>
                <a:ea typeface="Source Serif 4 Semi Bold" pitchFamily="34" charset="-122"/>
                <a:cs typeface="Source Serif 4 Semi Bold" pitchFamily="34" charset="-120"/>
              </a:rPr>
              <a:t>Channel Performance Analysis</a:t>
            </a:r>
            <a:endParaRPr lang="en-US" sz="950" dirty="0"/>
          </a:p>
        </p:txBody>
      </p:sp>
      <p:sp>
        <p:nvSpPr>
          <p:cNvPr id="77" name="Text 75"/>
          <p:cNvSpPr/>
          <p:nvPr/>
        </p:nvSpPr>
        <p:spPr>
          <a:xfrm>
            <a:off x="3190161" y="13705403"/>
            <a:ext cx="1288137" cy="261818"/>
          </a:xfrm>
          <a:prstGeom prst="rect">
            <a:avLst/>
          </a:prstGeom>
          <a:noFill/>
          <a:ln/>
        </p:spPr>
        <p:txBody>
          <a:bodyPr wrap="none" lIns="0" tIns="0" rIns="0" bIns="0" rtlCol="0" anchor="t"/>
          <a:lstStyle/>
          <a:p>
            <a:pPr marL="0" indent="0" algn="ctr">
              <a:lnSpc>
                <a:spcPts val="2050"/>
              </a:lnSpc>
              <a:buNone/>
            </a:pPr>
            <a:r>
              <a:rPr lang="en-US" sz="2050" dirty="0">
                <a:solidFill>
                  <a:srgbClr val="272525"/>
                </a:solidFill>
                <a:latin typeface="Source Serif 4 Semi Bold" pitchFamily="34" charset="0"/>
                <a:ea typeface="Source Serif 4 Semi Bold" pitchFamily="34" charset="-122"/>
                <a:cs typeface="Source Serif 4 Semi Bold" pitchFamily="34" charset="-120"/>
              </a:rPr>
              <a:t>75%</a:t>
            </a:r>
            <a:endParaRPr lang="en-US" sz="2050" dirty="0"/>
          </a:p>
        </p:txBody>
      </p:sp>
      <p:pic>
        <p:nvPicPr>
          <p:cNvPr id="78" name="Image 0" descr="preencoded.png"/>
          <p:cNvPicPr>
            <a:picLocks noChangeAspect="1"/>
          </p:cNvPicPr>
          <p:nvPr/>
        </p:nvPicPr>
        <p:blipFill>
          <a:blip r:embed="rId3"/>
          <a:stretch>
            <a:fillRect/>
          </a:stretch>
        </p:blipFill>
        <p:spPr>
          <a:xfrm>
            <a:off x="3048833" y="13050917"/>
            <a:ext cx="1570911" cy="1570911"/>
          </a:xfrm>
          <a:prstGeom prst="rect">
            <a:avLst/>
          </a:prstGeom>
        </p:spPr>
      </p:pic>
      <p:sp>
        <p:nvSpPr>
          <p:cNvPr id="79" name="Text 76"/>
          <p:cNvSpPr/>
          <p:nvPr/>
        </p:nvSpPr>
        <p:spPr>
          <a:xfrm>
            <a:off x="3218259" y="14752558"/>
            <a:ext cx="1232059" cy="153948"/>
          </a:xfrm>
          <a:prstGeom prst="rect">
            <a:avLst/>
          </a:prstGeom>
          <a:noFill/>
          <a:ln/>
        </p:spPr>
        <p:txBody>
          <a:bodyPr wrap="none" lIns="0" tIns="0" rIns="0" bIns="0" rtlCol="0" anchor="t"/>
          <a:lstStyle/>
          <a:p>
            <a:pPr marL="0" indent="0" algn="ctr">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Brick &amp; Mortar</a:t>
            </a:r>
            <a:endParaRPr lang="en-US" sz="950" dirty="0"/>
          </a:p>
        </p:txBody>
      </p:sp>
      <p:sp>
        <p:nvSpPr>
          <p:cNvPr id="80" name="Text 77"/>
          <p:cNvSpPr/>
          <p:nvPr/>
        </p:nvSpPr>
        <p:spPr>
          <a:xfrm>
            <a:off x="418862" y="14969252"/>
            <a:ext cx="6830854" cy="167640"/>
          </a:xfrm>
          <a:prstGeom prst="rect">
            <a:avLst/>
          </a:prstGeom>
          <a:noFill/>
          <a:ln/>
        </p:spPr>
        <p:txBody>
          <a:bodyPr wrap="none" lIns="0" tIns="0" rIns="0" bIns="0" rtlCol="0" anchor="t"/>
          <a:lstStyle/>
          <a:p>
            <a:pPr marL="0" indent="0" algn="ctr">
              <a:lnSpc>
                <a:spcPts val="1300"/>
              </a:lnSpc>
              <a:buNone/>
            </a:pPr>
            <a:r>
              <a:rPr lang="en-US" sz="800" dirty="0">
                <a:solidFill>
                  <a:srgbClr val="272525"/>
                </a:solidFill>
                <a:latin typeface="Source Sans 3" pitchFamily="34" charset="0"/>
                <a:ea typeface="Source Sans 3" pitchFamily="34" charset="-122"/>
                <a:cs typeface="Source Sans 3" pitchFamily="34" charset="-120"/>
              </a:rPr>
              <a:t>₹0.74B - Traditional retail dominance</a:t>
            </a:r>
            <a:endParaRPr lang="en-US" sz="800" dirty="0"/>
          </a:p>
        </p:txBody>
      </p:sp>
      <p:sp>
        <p:nvSpPr>
          <p:cNvPr id="81" name="Text 78"/>
          <p:cNvSpPr/>
          <p:nvPr/>
        </p:nvSpPr>
        <p:spPr>
          <a:xfrm>
            <a:off x="10151864" y="13705403"/>
            <a:ext cx="1288137" cy="261818"/>
          </a:xfrm>
          <a:prstGeom prst="rect">
            <a:avLst/>
          </a:prstGeom>
          <a:noFill/>
          <a:ln/>
        </p:spPr>
        <p:txBody>
          <a:bodyPr wrap="none" lIns="0" tIns="0" rIns="0" bIns="0" rtlCol="0" anchor="t"/>
          <a:lstStyle/>
          <a:p>
            <a:pPr marL="0" indent="0" algn="ctr">
              <a:lnSpc>
                <a:spcPts val="2050"/>
              </a:lnSpc>
              <a:buNone/>
            </a:pPr>
            <a:r>
              <a:rPr lang="en-US" sz="2050" dirty="0">
                <a:solidFill>
                  <a:srgbClr val="272525"/>
                </a:solidFill>
                <a:latin typeface="Source Serif 4 Semi Bold" pitchFamily="34" charset="0"/>
                <a:ea typeface="Source Serif 4 Semi Bold" pitchFamily="34" charset="-122"/>
                <a:cs typeface="Source Serif 4 Semi Bold" pitchFamily="34" charset="-120"/>
              </a:rPr>
              <a:t>25%</a:t>
            </a:r>
            <a:endParaRPr lang="en-US" sz="2050" dirty="0"/>
          </a:p>
        </p:txBody>
      </p:sp>
      <p:pic>
        <p:nvPicPr>
          <p:cNvPr id="82" name="Image 1" descr="preencoded.png"/>
          <p:cNvPicPr>
            <a:picLocks noChangeAspect="1"/>
          </p:cNvPicPr>
          <p:nvPr/>
        </p:nvPicPr>
        <p:blipFill>
          <a:blip r:embed="rId4"/>
          <a:stretch>
            <a:fillRect/>
          </a:stretch>
        </p:blipFill>
        <p:spPr>
          <a:xfrm>
            <a:off x="10010537" y="13050917"/>
            <a:ext cx="1570911" cy="1570911"/>
          </a:xfrm>
          <a:prstGeom prst="rect">
            <a:avLst/>
          </a:prstGeom>
        </p:spPr>
      </p:pic>
      <p:sp>
        <p:nvSpPr>
          <p:cNvPr id="83" name="Text 79"/>
          <p:cNvSpPr/>
          <p:nvPr/>
        </p:nvSpPr>
        <p:spPr>
          <a:xfrm>
            <a:off x="10179963" y="14752558"/>
            <a:ext cx="1232059" cy="153948"/>
          </a:xfrm>
          <a:prstGeom prst="rect">
            <a:avLst/>
          </a:prstGeom>
          <a:noFill/>
          <a:ln/>
        </p:spPr>
        <p:txBody>
          <a:bodyPr wrap="none" lIns="0" tIns="0" rIns="0" bIns="0" rtlCol="0" anchor="t"/>
          <a:lstStyle/>
          <a:p>
            <a:pPr marL="0" indent="0" algn="ctr">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E-Commerce</a:t>
            </a:r>
            <a:endParaRPr lang="en-US" sz="950" dirty="0"/>
          </a:p>
        </p:txBody>
      </p:sp>
      <p:sp>
        <p:nvSpPr>
          <p:cNvPr id="84" name="Text 80"/>
          <p:cNvSpPr/>
          <p:nvPr/>
        </p:nvSpPr>
        <p:spPr>
          <a:xfrm>
            <a:off x="7380565" y="14969252"/>
            <a:ext cx="6830973" cy="167640"/>
          </a:xfrm>
          <a:prstGeom prst="rect">
            <a:avLst/>
          </a:prstGeom>
          <a:noFill/>
          <a:ln/>
        </p:spPr>
        <p:txBody>
          <a:bodyPr wrap="none" lIns="0" tIns="0" rIns="0" bIns="0" rtlCol="0" anchor="t"/>
          <a:lstStyle/>
          <a:p>
            <a:pPr marL="0" indent="0" algn="ctr">
              <a:lnSpc>
                <a:spcPts val="1300"/>
              </a:lnSpc>
              <a:buNone/>
            </a:pPr>
            <a:r>
              <a:rPr lang="en-US" sz="800" dirty="0">
                <a:solidFill>
                  <a:srgbClr val="272525"/>
                </a:solidFill>
                <a:latin typeface="Source Sans 3" pitchFamily="34" charset="0"/>
                <a:ea typeface="Source Sans 3" pitchFamily="34" charset="-122"/>
                <a:cs typeface="Source Sans 3" pitchFamily="34" charset="-120"/>
              </a:rPr>
              <a:t>₹0.24B - Digital channel underperformance</a:t>
            </a:r>
            <a:endParaRPr lang="en-US" sz="800" dirty="0"/>
          </a:p>
        </p:txBody>
      </p:sp>
      <p:sp>
        <p:nvSpPr>
          <p:cNvPr id="85" name="Text 81"/>
          <p:cNvSpPr/>
          <p:nvPr/>
        </p:nvSpPr>
        <p:spPr>
          <a:xfrm>
            <a:off x="418862" y="15254645"/>
            <a:ext cx="13792676" cy="167640"/>
          </a:xfrm>
          <a:prstGeom prst="rect">
            <a:avLst/>
          </a:prstGeom>
          <a:noFill/>
          <a:ln/>
        </p:spPr>
        <p:txBody>
          <a:bodyPr wrap="none" lIns="0" tIns="0" rIns="0" bIns="0" rtlCol="0" anchor="t"/>
          <a:lstStyle/>
          <a:p>
            <a:pPr marL="0" indent="0" algn="l">
              <a:lnSpc>
                <a:spcPts val="1300"/>
              </a:lnSpc>
              <a:buNone/>
            </a:pPr>
            <a:r>
              <a:rPr lang="en-US" sz="800" b="1" dirty="0">
                <a:solidFill>
                  <a:srgbClr val="272525"/>
                </a:solidFill>
                <a:latin typeface="Source Sans 3" pitchFamily="34" charset="0"/>
                <a:ea typeface="Source Sans 3" pitchFamily="34" charset="-122"/>
                <a:cs typeface="Source Sans 3" pitchFamily="34" charset="-120"/>
              </a:rPr>
              <a:t>Key Finding:</a:t>
            </a:r>
            <a:r>
              <a:rPr lang="en-US" sz="800" dirty="0">
                <a:solidFill>
                  <a:srgbClr val="272525"/>
                </a:solidFill>
                <a:latin typeface="Source Sans 3" pitchFamily="34" charset="0"/>
                <a:ea typeface="Source Sans 3" pitchFamily="34" charset="-122"/>
                <a:cs typeface="Source Sans 3" pitchFamily="34" charset="-120"/>
              </a:rPr>
              <a:t> Brick &amp; Mortar sales are 3× higher than e-commerce, reflecting stronger traditional retail performance but highlighting significant digital transformation opportunity.</a:t>
            </a:r>
            <a:endParaRPr lang="en-US" sz="800" dirty="0"/>
          </a:p>
        </p:txBody>
      </p:sp>
      <p:sp>
        <p:nvSpPr>
          <p:cNvPr id="86" name="Text 82"/>
          <p:cNvSpPr/>
          <p:nvPr/>
        </p:nvSpPr>
        <p:spPr>
          <a:xfrm>
            <a:off x="418862" y="15579328"/>
            <a:ext cx="3062764" cy="246459"/>
          </a:xfrm>
          <a:prstGeom prst="rect">
            <a:avLst/>
          </a:prstGeom>
          <a:noFill/>
          <a:ln/>
        </p:spPr>
        <p:txBody>
          <a:bodyPr wrap="none" lIns="0" tIns="0" rIns="0" bIns="0" rtlCol="0" anchor="t"/>
          <a:lstStyle/>
          <a:p>
            <a:pPr marL="0" indent="0" algn="l">
              <a:lnSpc>
                <a:spcPts val="1900"/>
              </a:lnSpc>
              <a:buNone/>
            </a:pPr>
            <a:r>
              <a:rPr lang="en-US" sz="1550" dirty="0">
                <a:solidFill>
                  <a:srgbClr val="D73AD7"/>
                </a:solidFill>
                <a:latin typeface="Source Serif 4 Semi Bold" pitchFamily="34" charset="0"/>
                <a:ea typeface="Source Serif 4 Semi Bold" pitchFamily="34" charset="-122"/>
                <a:cs typeface="Source Serif 4 Semi Bold" pitchFamily="34" charset="-120"/>
              </a:rPr>
              <a:t>Product Portfolio &amp; Data Quality</a:t>
            </a:r>
            <a:endParaRPr lang="en-US" sz="1550" dirty="0"/>
          </a:p>
        </p:txBody>
      </p:sp>
      <p:sp>
        <p:nvSpPr>
          <p:cNvPr id="87" name="Text 83"/>
          <p:cNvSpPr/>
          <p:nvPr/>
        </p:nvSpPr>
        <p:spPr>
          <a:xfrm>
            <a:off x="418862" y="15982831"/>
            <a:ext cx="13792676" cy="335280"/>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Top-performing products generate the majority of sales volume, while data integrity gaps present challenges. Notably, several product records appear with missing or "(Blank)" values, indicating incomplete product data that impacts forecasting accuracy and inventory management. These gaps represent a critical data cleansing opportunity to enhance analytical reliability and operational decision-making.</a:t>
            </a:r>
            <a:endParaRPr lang="en-US" sz="800" dirty="0"/>
          </a:p>
        </p:txBody>
      </p:sp>
      <p:sp>
        <p:nvSpPr>
          <p:cNvPr id="88" name="Text 84"/>
          <p:cNvSpPr/>
          <p:nvPr/>
        </p:nvSpPr>
        <p:spPr>
          <a:xfrm>
            <a:off x="418862" y="16475154"/>
            <a:ext cx="3680936" cy="246459"/>
          </a:xfrm>
          <a:prstGeom prst="rect">
            <a:avLst/>
          </a:prstGeom>
          <a:noFill/>
          <a:ln/>
        </p:spPr>
        <p:txBody>
          <a:bodyPr wrap="none" lIns="0" tIns="0" rIns="0" bIns="0" rtlCol="0" anchor="t"/>
          <a:lstStyle/>
          <a:p>
            <a:pPr marL="0" indent="0" algn="l">
              <a:lnSpc>
                <a:spcPts val="1900"/>
              </a:lnSpc>
              <a:buNone/>
            </a:pPr>
            <a:r>
              <a:rPr lang="en-US" sz="1550" dirty="0">
                <a:solidFill>
                  <a:srgbClr val="D73AD7"/>
                </a:solidFill>
                <a:latin typeface="Source Serif 4 Semi Bold" pitchFamily="34" charset="0"/>
                <a:ea typeface="Source Serif 4 Semi Bold" pitchFamily="34" charset="-122"/>
                <a:cs typeface="Source Serif 4 Semi Bold" pitchFamily="34" charset="-120"/>
              </a:rPr>
              <a:t>Historical Revenue Trends (2017–2020)</a:t>
            </a:r>
            <a:endParaRPr lang="en-US" sz="1550" dirty="0"/>
          </a:p>
        </p:txBody>
      </p:sp>
      <p:sp>
        <p:nvSpPr>
          <p:cNvPr id="89" name="Text 85"/>
          <p:cNvSpPr/>
          <p:nvPr/>
        </p:nvSpPr>
        <p:spPr>
          <a:xfrm>
            <a:off x="418862" y="16878657"/>
            <a:ext cx="13792676" cy="335280"/>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Revenue trajectory demonstrates significant market dynamics across the analysis period. Performance peaked during 2018–2019, representing optimal market conditions and operational efficiency. A noticeable decline emerged in early 2020, attributable to market slowdowns, seasonal factors, or external economic pressures. The dashboard incorporates trend lines and year slicers enabling real-time year-over-year performance tracking and predictive modeling.</a:t>
            </a:r>
            <a:endParaRPr lang="en-US" sz="800" dirty="0"/>
          </a:p>
        </p:txBody>
      </p:sp>
      <p:sp>
        <p:nvSpPr>
          <p:cNvPr id="90" name="Text 86"/>
          <p:cNvSpPr/>
          <p:nvPr/>
        </p:nvSpPr>
        <p:spPr>
          <a:xfrm>
            <a:off x="418862" y="17370981"/>
            <a:ext cx="2403634" cy="246459"/>
          </a:xfrm>
          <a:prstGeom prst="rect">
            <a:avLst/>
          </a:prstGeom>
          <a:noFill/>
          <a:ln/>
        </p:spPr>
        <p:txBody>
          <a:bodyPr wrap="none" lIns="0" tIns="0" rIns="0" bIns="0" rtlCol="0" anchor="t"/>
          <a:lstStyle/>
          <a:p>
            <a:pPr marL="0" indent="0" algn="l">
              <a:lnSpc>
                <a:spcPts val="1900"/>
              </a:lnSpc>
              <a:buNone/>
            </a:pPr>
            <a:r>
              <a:rPr lang="en-US" sz="1550" dirty="0">
                <a:solidFill>
                  <a:srgbClr val="D73AD7"/>
                </a:solidFill>
                <a:latin typeface="Source Serif 4 Semi Bold" pitchFamily="34" charset="0"/>
                <a:ea typeface="Source Serif 4 Semi Bold" pitchFamily="34" charset="-122"/>
                <a:cs typeface="Source Serif 4 Semi Bold" pitchFamily="34" charset="-120"/>
              </a:rPr>
              <a:t>Critical Business Insights</a:t>
            </a:r>
            <a:endParaRPr lang="en-US" sz="1550" dirty="0"/>
          </a:p>
        </p:txBody>
      </p:sp>
      <p:sp>
        <p:nvSpPr>
          <p:cNvPr id="91" name="Shape 87"/>
          <p:cNvSpPr/>
          <p:nvPr/>
        </p:nvSpPr>
        <p:spPr>
          <a:xfrm>
            <a:off x="418862" y="17774483"/>
            <a:ext cx="235625" cy="235625"/>
          </a:xfrm>
          <a:prstGeom prst="roundRect">
            <a:avLst>
              <a:gd name="adj" fmla="val 18668"/>
            </a:avLst>
          </a:prstGeom>
          <a:solidFill>
            <a:srgbClr val="F4D4F7"/>
          </a:solidFill>
          <a:ln w="7620">
            <a:solidFill>
              <a:srgbClr val="DABADD"/>
            </a:solidFill>
            <a:prstDash val="solid"/>
          </a:ln>
        </p:spPr>
        <p:txBody>
          <a:bodyPr/>
          <a:lstStyle/>
          <a:p>
            <a:endParaRPr lang="en-IN"/>
          </a:p>
        </p:txBody>
      </p:sp>
      <p:sp>
        <p:nvSpPr>
          <p:cNvPr id="92" name="Text 88"/>
          <p:cNvSpPr/>
          <p:nvPr/>
        </p:nvSpPr>
        <p:spPr>
          <a:xfrm>
            <a:off x="759143" y="17810440"/>
            <a:ext cx="1561862"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Delhi's Market Dominance</a:t>
            </a:r>
            <a:endParaRPr lang="en-US" sz="950" dirty="0"/>
          </a:p>
        </p:txBody>
      </p:sp>
      <p:sp>
        <p:nvSpPr>
          <p:cNvPr id="93" name="Text 89"/>
          <p:cNvSpPr/>
          <p:nvPr/>
        </p:nvSpPr>
        <p:spPr>
          <a:xfrm>
            <a:off x="759143" y="18027134"/>
            <a:ext cx="13452396"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Delhi operates as the company's strongest and most profitable market, generating over half of total revenue. Strategic focus on this market's expansion and retention is essential.</a:t>
            </a:r>
            <a:endParaRPr lang="en-US" sz="800" dirty="0"/>
          </a:p>
        </p:txBody>
      </p:sp>
      <p:sp>
        <p:nvSpPr>
          <p:cNvPr id="94" name="Shape 90"/>
          <p:cNvSpPr/>
          <p:nvPr/>
        </p:nvSpPr>
        <p:spPr>
          <a:xfrm>
            <a:off x="418862" y="18404205"/>
            <a:ext cx="235625" cy="235625"/>
          </a:xfrm>
          <a:prstGeom prst="roundRect">
            <a:avLst>
              <a:gd name="adj" fmla="val 18668"/>
            </a:avLst>
          </a:prstGeom>
          <a:solidFill>
            <a:srgbClr val="F4D4F7"/>
          </a:solidFill>
          <a:ln w="7620">
            <a:solidFill>
              <a:srgbClr val="DABADD"/>
            </a:solidFill>
            <a:prstDash val="solid"/>
          </a:ln>
        </p:spPr>
        <p:txBody>
          <a:bodyPr/>
          <a:lstStyle/>
          <a:p>
            <a:endParaRPr lang="en-IN"/>
          </a:p>
        </p:txBody>
      </p:sp>
      <p:sp>
        <p:nvSpPr>
          <p:cNvPr id="95" name="Text 91"/>
          <p:cNvSpPr/>
          <p:nvPr/>
        </p:nvSpPr>
        <p:spPr>
          <a:xfrm>
            <a:off x="759143" y="18440162"/>
            <a:ext cx="1942862"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E-Commerce Underperformance</a:t>
            </a:r>
            <a:endParaRPr lang="en-US" sz="950" dirty="0"/>
          </a:p>
        </p:txBody>
      </p:sp>
      <p:sp>
        <p:nvSpPr>
          <p:cNvPr id="96" name="Text 92"/>
          <p:cNvSpPr/>
          <p:nvPr/>
        </p:nvSpPr>
        <p:spPr>
          <a:xfrm>
            <a:off x="759143" y="18656856"/>
            <a:ext cx="13452396"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Digital channels significantly underperform relative to traditional retail. The 3× gap between channels represents untapped growth potential requiring investment and strategic repositioning.</a:t>
            </a:r>
            <a:endParaRPr lang="en-US" sz="800" dirty="0"/>
          </a:p>
        </p:txBody>
      </p:sp>
      <p:sp>
        <p:nvSpPr>
          <p:cNvPr id="97" name="Shape 93"/>
          <p:cNvSpPr/>
          <p:nvPr/>
        </p:nvSpPr>
        <p:spPr>
          <a:xfrm>
            <a:off x="418862" y="19033927"/>
            <a:ext cx="235625" cy="235625"/>
          </a:xfrm>
          <a:prstGeom prst="roundRect">
            <a:avLst>
              <a:gd name="adj" fmla="val 18668"/>
            </a:avLst>
          </a:prstGeom>
          <a:solidFill>
            <a:srgbClr val="F4D4F7"/>
          </a:solidFill>
          <a:ln w="7620">
            <a:solidFill>
              <a:srgbClr val="DABADD"/>
            </a:solidFill>
            <a:prstDash val="solid"/>
          </a:ln>
        </p:spPr>
        <p:txBody>
          <a:bodyPr/>
          <a:lstStyle/>
          <a:p>
            <a:endParaRPr lang="en-IN"/>
          </a:p>
        </p:txBody>
      </p:sp>
      <p:sp>
        <p:nvSpPr>
          <p:cNvPr id="98" name="Text 94"/>
          <p:cNvSpPr/>
          <p:nvPr/>
        </p:nvSpPr>
        <p:spPr>
          <a:xfrm>
            <a:off x="759143" y="19069883"/>
            <a:ext cx="1751171"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Customer Concentration Risk</a:t>
            </a:r>
            <a:endParaRPr lang="en-US" sz="950" dirty="0"/>
          </a:p>
        </p:txBody>
      </p:sp>
      <p:sp>
        <p:nvSpPr>
          <p:cNvPr id="99" name="Text 95"/>
          <p:cNvSpPr/>
          <p:nvPr/>
        </p:nvSpPr>
        <p:spPr>
          <a:xfrm>
            <a:off x="759143" y="19286577"/>
            <a:ext cx="13452396"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Heavy dependency on top five customers creates vulnerability to customer churn or negotiation pressure. Portfolio diversification is essential for sustainable growth and operational stability.</a:t>
            </a:r>
            <a:endParaRPr lang="en-US" sz="800" dirty="0"/>
          </a:p>
        </p:txBody>
      </p:sp>
      <p:sp>
        <p:nvSpPr>
          <p:cNvPr id="100" name="Shape 96"/>
          <p:cNvSpPr/>
          <p:nvPr/>
        </p:nvSpPr>
        <p:spPr>
          <a:xfrm>
            <a:off x="418862" y="19663648"/>
            <a:ext cx="235625" cy="235625"/>
          </a:xfrm>
          <a:prstGeom prst="roundRect">
            <a:avLst>
              <a:gd name="adj" fmla="val 18668"/>
            </a:avLst>
          </a:prstGeom>
          <a:solidFill>
            <a:srgbClr val="F4D4F7"/>
          </a:solidFill>
          <a:ln w="7620">
            <a:solidFill>
              <a:srgbClr val="DABADD"/>
            </a:solidFill>
            <a:prstDash val="solid"/>
          </a:ln>
        </p:spPr>
        <p:txBody>
          <a:bodyPr/>
          <a:lstStyle/>
          <a:p>
            <a:endParaRPr lang="en-IN"/>
          </a:p>
        </p:txBody>
      </p:sp>
      <p:sp>
        <p:nvSpPr>
          <p:cNvPr id="101" name="Text 97"/>
          <p:cNvSpPr/>
          <p:nvPr/>
        </p:nvSpPr>
        <p:spPr>
          <a:xfrm>
            <a:off x="759143" y="19699605"/>
            <a:ext cx="1263848"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Margin Deterioration</a:t>
            </a:r>
            <a:endParaRPr lang="en-US" sz="950" dirty="0"/>
          </a:p>
        </p:txBody>
      </p:sp>
      <p:sp>
        <p:nvSpPr>
          <p:cNvPr id="102" name="Text 98"/>
          <p:cNvSpPr/>
          <p:nvPr/>
        </p:nvSpPr>
        <p:spPr>
          <a:xfrm>
            <a:off x="759143" y="19916299"/>
            <a:ext cx="13452396"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Certain markets exhibit negative or minimal profit margins despite generating sales volume, indicating pricing misalignment or cost control failures requiring immediate intervention.</a:t>
            </a:r>
            <a:endParaRPr lang="en-US" sz="800" dirty="0"/>
          </a:p>
        </p:txBody>
      </p:sp>
      <p:sp>
        <p:nvSpPr>
          <p:cNvPr id="103" name="Shape 99"/>
          <p:cNvSpPr/>
          <p:nvPr/>
        </p:nvSpPr>
        <p:spPr>
          <a:xfrm>
            <a:off x="418862" y="20293370"/>
            <a:ext cx="235625" cy="235625"/>
          </a:xfrm>
          <a:prstGeom prst="roundRect">
            <a:avLst>
              <a:gd name="adj" fmla="val 18668"/>
            </a:avLst>
          </a:prstGeom>
          <a:solidFill>
            <a:srgbClr val="F4D4F7"/>
          </a:solidFill>
          <a:ln w="7620">
            <a:solidFill>
              <a:srgbClr val="DABADD"/>
            </a:solidFill>
            <a:prstDash val="solid"/>
          </a:ln>
        </p:spPr>
        <p:txBody>
          <a:bodyPr/>
          <a:lstStyle/>
          <a:p>
            <a:endParaRPr lang="en-IN"/>
          </a:p>
        </p:txBody>
      </p:sp>
      <p:sp>
        <p:nvSpPr>
          <p:cNvPr id="104" name="Text 100"/>
          <p:cNvSpPr/>
          <p:nvPr/>
        </p:nvSpPr>
        <p:spPr>
          <a:xfrm>
            <a:off x="759143" y="20329327"/>
            <a:ext cx="1500664"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Data Quality Deficiencies</a:t>
            </a:r>
            <a:endParaRPr lang="en-US" sz="950" dirty="0"/>
          </a:p>
        </p:txBody>
      </p:sp>
      <p:sp>
        <p:nvSpPr>
          <p:cNvPr id="105" name="Text 101"/>
          <p:cNvSpPr/>
          <p:nvPr/>
        </p:nvSpPr>
        <p:spPr>
          <a:xfrm>
            <a:off x="759143" y="20546020"/>
            <a:ext cx="13452396"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Missing product data and incomplete records compromise forecasting accuracy. Data governance improvements are essential for reliable analytics and strategic planning.</a:t>
            </a:r>
            <a:endParaRPr lang="en-US" sz="800" dirty="0"/>
          </a:p>
        </p:txBody>
      </p:sp>
      <p:sp>
        <p:nvSpPr>
          <p:cNvPr id="106" name="Text 102"/>
          <p:cNvSpPr/>
          <p:nvPr/>
        </p:nvSpPr>
        <p:spPr>
          <a:xfrm>
            <a:off x="418862" y="20870704"/>
            <a:ext cx="2671405" cy="246459"/>
          </a:xfrm>
          <a:prstGeom prst="rect">
            <a:avLst/>
          </a:prstGeom>
          <a:noFill/>
          <a:ln/>
        </p:spPr>
        <p:txBody>
          <a:bodyPr wrap="none" lIns="0" tIns="0" rIns="0" bIns="0" rtlCol="0" anchor="t"/>
          <a:lstStyle/>
          <a:p>
            <a:pPr marL="0" indent="0" algn="l">
              <a:lnSpc>
                <a:spcPts val="1900"/>
              </a:lnSpc>
              <a:buNone/>
            </a:pPr>
            <a:r>
              <a:rPr lang="en-US" sz="1550" dirty="0">
                <a:solidFill>
                  <a:srgbClr val="D73AD7"/>
                </a:solidFill>
                <a:latin typeface="Source Serif 4 Semi Bold" pitchFamily="34" charset="0"/>
                <a:ea typeface="Source Serif 4 Semi Bold" pitchFamily="34" charset="-122"/>
                <a:cs typeface="Source Serif 4 Semi Bold" pitchFamily="34" charset="-120"/>
              </a:rPr>
              <a:t>Strategic Recommendations</a:t>
            </a:r>
            <a:endParaRPr lang="en-US" sz="1550" dirty="0"/>
          </a:p>
        </p:txBody>
      </p:sp>
      <p:pic>
        <p:nvPicPr>
          <p:cNvPr id="107" name="Image 2" descr="preencoded.png"/>
          <p:cNvPicPr>
            <a:picLocks noChangeAspect="1"/>
          </p:cNvPicPr>
          <p:nvPr/>
        </p:nvPicPr>
        <p:blipFill>
          <a:blip r:embed="rId5"/>
          <a:stretch>
            <a:fillRect/>
          </a:stretch>
        </p:blipFill>
        <p:spPr>
          <a:xfrm>
            <a:off x="418862" y="21274207"/>
            <a:ext cx="314087" cy="1143000"/>
          </a:xfrm>
          <a:prstGeom prst="rect">
            <a:avLst/>
          </a:prstGeom>
        </p:spPr>
      </p:pic>
      <p:sp>
        <p:nvSpPr>
          <p:cNvPr id="108" name="Text 103"/>
          <p:cNvSpPr/>
          <p:nvPr/>
        </p:nvSpPr>
        <p:spPr>
          <a:xfrm>
            <a:off x="837605" y="21378863"/>
            <a:ext cx="1991082"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1. Optimize Regional Profitability</a:t>
            </a:r>
            <a:endParaRPr lang="en-US" sz="950" dirty="0"/>
          </a:p>
        </p:txBody>
      </p:sp>
      <p:sp>
        <p:nvSpPr>
          <p:cNvPr id="109" name="Text 104"/>
          <p:cNvSpPr/>
          <p:nvPr/>
        </p:nvSpPr>
        <p:spPr>
          <a:xfrm>
            <a:off x="837605" y="21595556"/>
            <a:ext cx="13373933"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Implement targeted cost-reduction initiatives in low-profit or negative-margin markets like Bengaluru and Kanpur. Conduct detailed cost analysis, pricing reviews, and operational efficiency studies.</a:t>
            </a:r>
            <a:endParaRPr lang="en-US" sz="800" dirty="0"/>
          </a:p>
        </p:txBody>
      </p:sp>
      <p:pic>
        <p:nvPicPr>
          <p:cNvPr id="110" name="Image 3" descr="preencoded.png"/>
          <p:cNvPicPr>
            <a:picLocks noChangeAspect="1"/>
          </p:cNvPicPr>
          <p:nvPr/>
        </p:nvPicPr>
        <p:blipFill>
          <a:blip r:embed="rId5"/>
          <a:stretch>
            <a:fillRect/>
          </a:stretch>
        </p:blipFill>
        <p:spPr>
          <a:xfrm>
            <a:off x="575905" y="22007155"/>
            <a:ext cx="314087" cy="1143000"/>
          </a:xfrm>
          <a:prstGeom prst="rect">
            <a:avLst/>
          </a:prstGeom>
        </p:spPr>
      </p:pic>
      <p:sp>
        <p:nvSpPr>
          <p:cNvPr id="111" name="Text 105"/>
          <p:cNvSpPr/>
          <p:nvPr/>
        </p:nvSpPr>
        <p:spPr>
          <a:xfrm>
            <a:off x="994648" y="22111811"/>
            <a:ext cx="2154674"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2. Accelerate Digital Transformation</a:t>
            </a:r>
            <a:endParaRPr lang="en-US" sz="950" dirty="0"/>
          </a:p>
        </p:txBody>
      </p:sp>
      <p:sp>
        <p:nvSpPr>
          <p:cNvPr id="112" name="Text 106"/>
          <p:cNvSpPr/>
          <p:nvPr/>
        </p:nvSpPr>
        <p:spPr>
          <a:xfrm>
            <a:off x="994648" y="22328505"/>
            <a:ext cx="13216890"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Invest strategically in e-commerce capabilities, omnichannel integration, and digital marketing. Close the 3× performance gap through platform enhancements and customer experience optimization.</a:t>
            </a:r>
            <a:endParaRPr lang="en-US" sz="800" dirty="0"/>
          </a:p>
        </p:txBody>
      </p:sp>
      <p:pic>
        <p:nvPicPr>
          <p:cNvPr id="113" name="Image 4" descr="preencoded.png"/>
          <p:cNvPicPr>
            <a:picLocks noChangeAspect="1"/>
          </p:cNvPicPr>
          <p:nvPr/>
        </p:nvPicPr>
        <p:blipFill>
          <a:blip r:embed="rId5"/>
          <a:stretch>
            <a:fillRect/>
          </a:stretch>
        </p:blipFill>
        <p:spPr>
          <a:xfrm>
            <a:off x="732949" y="22740104"/>
            <a:ext cx="314087" cy="1143000"/>
          </a:xfrm>
          <a:prstGeom prst="rect">
            <a:avLst/>
          </a:prstGeom>
        </p:spPr>
      </p:pic>
      <p:sp>
        <p:nvSpPr>
          <p:cNvPr id="114" name="Text 107"/>
          <p:cNvSpPr/>
          <p:nvPr/>
        </p:nvSpPr>
        <p:spPr>
          <a:xfrm>
            <a:off x="1151692" y="22844760"/>
            <a:ext cx="1836896"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3. Diversify Customer Portfolio</a:t>
            </a:r>
            <a:endParaRPr lang="en-US" sz="950" dirty="0"/>
          </a:p>
        </p:txBody>
      </p:sp>
      <p:sp>
        <p:nvSpPr>
          <p:cNvPr id="115" name="Text 108"/>
          <p:cNvSpPr/>
          <p:nvPr/>
        </p:nvSpPr>
        <p:spPr>
          <a:xfrm>
            <a:off x="1151692" y="23061454"/>
            <a:ext cx="13059847"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Reduce dependency on top customers through market expansion, new customer acquisition, and relationship management improvements. Target emerging customer segments with tailored solutions.</a:t>
            </a:r>
            <a:endParaRPr lang="en-US" sz="800" dirty="0"/>
          </a:p>
        </p:txBody>
      </p:sp>
      <p:pic>
        <p:nvPicPr>
          <p:cNvPr id="116" name="Image 5" descr="preencoded.png"/>
          <p:cNvPicPr>
            <a:picLocks noChangeAspect="1"/>
          </p:cNvPicPr>
          <p:nvPr/>
        </p:nvPicPr>
        <p:blipFill>
          <a:blip r:embed="rId5"/>
          <a:stretch>
            <a:fillRect/>
          </a:stretch>
        </p:blipFill>
        <p:spPr>
          <a:xfrm>
            <a:off x="890111" y="23473053"/>
            <a:ext cx="314087" cy="1143000"/>
          </a:xfrm>
          <a:prstGeom prst="rect">
            <a:avLst/>
          </a:prstGeom>
        </p:spPr>
      </p:pic>
      <p:sp>
        <p:nvSpPr>
          <p:cNvPr id="117" name="Text 109"/>
          <p:cNvSpPr/>
          <p:nvPr/>
        </p:nvSpPr>
        <p:spPr>
          <a:xfrm>
            <a:off x="1308854" y="23577709"/>
            <a:ext cx="1694378"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4. Enhance Data Governance</a:t>
            </a:r>
            <a:endParaRPr lang="en-US" sz="950" dirty="0"/>
          </a:p>
        </p:txBody>
      </p:sp>
      <p:sp>
        <p:nvSpPr>
          <p:cNvPr id="118" name="Text 110"/>
          <p:cNvSpPr/>
          <p:nvPr/>
        </p:nvSpPr>
        <p:spPr>
          <a:xfrm>
            <a:off x="1308854" y="23794403"/>
            <a:ext cx="12902684"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Implement comprehensive data quality improvement initiatives. Cleanse product records, establish validation rules, and create accountability frameworks for data accuracy and completeness.</a:t>
            </a:r>
            <a:endParaRPr lang="en-US" sz="800" dirty="0"/>
          </a:p>
        </p:txBody>
      </p:sp>
      <p:pic>
        <p:nvPicPr>
          <p:cNvPr id="119" name="Image 6" descr="preencoded.png"/>
          <p:cNvPicPr>
            <a:picLocks noChangeAspect="1"/>
          </p:cNvPicPr>
          <p:nvPr/>
        </p:nvPicPr>
        <p:blipFill>
          <a:blip r:embed="rId5"/>
          <a:stretch>
            <a:fillRect/>
          </a:stretch>
        </p:blipFill>
        <p:spPr>
          <a:xfrm>
            <a:off x="732949" y="24206002"/>
            <a:ext cx="314087" cy="1143000"/>
          </a:xfrm>
          <a:prstGeom prst="rect">
            <a:avLst/>
          </a:prstGeom>
        </p:spPr>
      </p:pic>
      <p:sp>
        <p:nvSpPr>
          <p:cNvPr id="120" name="Text 111"/>
          <p:cNvSpPr/>
          <p:nvPr/>
        </p:nvSpPr>
        <p:spPr>
          <a:xfrm>
            <a:off x="1151692" y="24310658"/>
            <a:ext cx="2118003"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5. Establish Forecasting Framework</a:t>
            </a:r>
            <a:endParaRPr lang="en-US" sz="950" dirty="0"/>
          </a:p>
        </p:txBody>
      </p:sp>
      <p:sp>
        <p:nvSpPr>
          <p:cNvPr id="121" name="Text 112"/>
          <p:cNvSpPr/>
          <p:nvPr/>
        </p:nvSpPr>
        <p:spPr>
          <a:xfrm>
            <a:off x="1151692" y="24527351"/>
            <a:ext cx="13059847"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Utilize Revenue LY vs. current revenue analysis for accurate forecasting and strategic target-setting. Build predictive models incorporating seasonal trends and market dynamics.</a:t>
            </a:r>
            <a:endParaRPr lang="en-US" sz="800" dirty="0"/>
          </a:p>
        </p:txBody>
      </p:sp>
      <p:sp>
        <p:nvSpPr>
          <p:cNvPr id="122" name="Text 113"/>
          <p:cNvSpPr/>
          <p:nvPr/>
        </p:nvSpPr>
        <p:spPr>
          <a:xfrm>
            <a:off x="418862" y="24991338"/>
            <a:ext cx="1971318" cy="246459"/>
          </a:xfrm>
          <a:prstGeom prst="rect">
            <a:avLst/>
          </a:prstGeom>
          <a:noFill/>
          <a:ln/>
        </p:spPr>
        <p:txBody>
          <a:bodyPr wrap="none" lIns="0" tIns="0" rIns="0" bIns="0" rtlCol="0" anchor="t"/>
          <a:lstStyle/>
          <a:p>
            <a:pPr marL="0" indent="0" algn="l">
              <a:lnSpc>
                <a:spcPts val="1900"/>
              </a:lnSpc>
              <a:buNone/>
            </a:pPr>
            <a:r>
              <a:rPr lang="en-US" sz="1550" dirty="0">
                <a:solidFill>
                  <a:srgbClr val="D73AD7"/>
                </a:solidFill>
                <a:latin typeface="Source Serif 4 Semi Bold" pitchFamily="34" charset="0"/>
                <a:ea typeface="Source Serif 4 Semi Bold" pitchFamily="34" charset="-122"/>
                <a:cs typeface="Source Serif 4 Semi Bold" pitchFamily="34" charset="-120"/>
              </a:rPr>
              <a:t>Project Deliverables</a:t>
            </a:r>
            <a:endParaRPr lang="en-US" sz="1550" dirty="0"/>
          </a:p>
        </p:txBody>
      </p:sp>
      <p:sp>
        <p:nvSpPr>
          <p:cNvPr id="123" name="Shape 114"/>
          <p:cNvSpPr/>
          <p:nvPr/>
        </p:nvSpPr>
        <p:spPr>
          <a:xfrm>
            <a:off x="418862" y="25394841"/>
            <a:ext cx="6843951" cy="938213"/>
          </a:xfrm>
          <a:prstGeom prst="roundRect">
            <a:avLst>
              <a:gd name="adj" fmla="val 4688"/>
            </a:avLst>
          </a:prstGeom>
          <a:solidFill>
            <a:srgbClr val="FFFFFF">
              <a:alpha val="95000"/>
            </a:srgbClr>
          </a:solidFill>
          <a:ln w="15240">
            <a:solidFill>
              <a:srgbClr val="DABADD"/>
            </a:solidFill>
            <a:prstDash val="solid"/>
          </a:ln>
        </p:spPr>
        <p:txBody>
          <a:bodyPr/>
          <a:lstStyle/>
          <a:p>
            <a:endParaRPr lang="en-IN"/>
          </a:p>
        </p:txBody>
      </p:sp>
      <p:sp>
        <p:nvSpPr>
          <p:cNvPr id="124" name="Shape 115"/>
          <p:cNvSpPr/>
          <p:nvPr/>
        </p:nvSpPr>
        <p:spPr>
          <a:xfrm>
            <a:off x="434102" y="25410081"/>
            <a:ext cx="6813471" cy="314087"/>
          </a:xfrm>
          <a:prstGeom prst="roundRect">
            <a:avLst>
              <a:gd name="adj" fmla="val 8182"/>
            </a:avLst>
          </a:prstGeom>
          <a:solidFill>
            <a:srgbClr val="F4D4F7"/>
          </a:solidFill>
          <a:ln/>
        </p:spPr>
        <p:txBody>
          <a:bodyPr/>
          <a:lstStyle/>
          <a:p>
            <a:endParaRPr lang="en-IN"/>
          </a:p>
        </p:txBody>
      </p:sp>
      <p:sp>
        <p:nvSpPr>
          <p:cNvPr id="125" name="Text 116"/>
          <p:cNvSpPr/>
          <p:nvPr/>
        </p:nvSpPr>
        <p:spPr>
          <a:xfrm>
            <a:off x="3762256" y="25465088"/>
            <a:ext cx="157043" cy="196334"/>
          </a:xfrm>
          <a:prstGeom prst="rect">
            <a:avLst/>
          </a:prstGeom>
          <a:noFill/>
          <a:ln/>
        </p:spPr>
        <p:txBody>
          <a:bodyPr wrap="none" lIns="0" tIns="0" rIns="0" bIns="0" rtlCol="0" anchor="t"/>
          <a:lstStyle/>
          <a:p>
            <a:pPr marL="0" indent="0" algn="l">
              <a:lnSpc>
                <a:spcPts val="1200"/>
              </a:lnSpc>
              <a:buNone/>
            </a:pPr>
            <a:r>
              <a:rPr lang="en-US" sz="1200" dirty="0">
                <a:solidFill>
                  <a:srgbClr val="272525"/>
                </a:solidFill>
                <a:latin typeface="Source Serif 4 Semi Bold" pitchFamily="34" charset="0"/>
                <a:ea typeface="Source Serif 4 Semi Bold" pitchFamily="34" charset="-122"/>
                <a:cs typeface="Source Serif 4 Semi Bold" pitchFamily="34" charset="-120"/>
              </a:rPr>
              <a:t>1</a:t>
            </a:r>
            <a:endParaRPr lang="en-US" sz="1200" dirty="0"/>
          </a:p>
        </p:txBody>
      </p:sp>
      <p:sp>
        <p:nvSpPr>
          <p:cNvPr id="126" name="Text 117"/>
          <p:cNvSpPr/>
          <p:nvPr/>
        </p:nvSpPr>
        <p:spPr>
          <a:xfrm>
            <a:off x="538758" y="25828823"/>
            <a:ext cx="1232059"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Power BI Dashboard</a:t>
            </a:r>
            <a:endParaRPr lang="en-US" sz="950" dirty="0"/>
          </a:p>
        </p:txBody>
      </p:sp>
      <p:sp>
        <p:nvSpPr>
          <p:cNvPr id="127" name="Text 118"/>
          <p:cNvSpPr/>
          <p:nvPr/>
        </p:nvSpPr>
        <p:spPr>
          <a:xfrm>
            <a:off x="538758" y="26045517"/>
            <a:ext cx="6604159"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Interactive .pbix file with comprehensive KPI visualizations, drill-down capabilities, and real-time data connectivity.</a:t>
            </a:r>
            <a:endParaRPr lang="en-US" sz="800" dirty="0"/>
          </a:p>
        </p:txBody>
      </p:sp>
      <p:sp>
        <p:nvSpPr>
          <p:cNvPr id="128" name="Shape 119"/>
          <p:cNvSpPr/>
          <p:nvPr/>
        </p:nvSpPr>
        <p:spPr>
          <a:xfrm>
            <a:off x="7367468" y="25394841"/>
            <a:ext cx="6844070" cy="938213"/>
          </a:xfrm>
          <a:prstGeom prst="roundRect">
            <a:avLst>
              <a:gd name="adj" fmla="val 4688"/>
            </a:avLst>
          </a:prstGeom>
          <a:solidFill>
            <a:srgbClr val="FFFFFF">
              <a:alpha val="95000"/>
            </a:srgbClr>
          </a:solidFill>
          <a:ln w="15240">
            <a:solidFill>
              <a:srgbClr val="DABADD"/>
            </a:solidFill>
            <a:prstDash val="solid"/>
          </a:ln>
        </p:spPr>
        <p:txBody>
          <a:bodyPr/>
          <a:lstStyle/>
          <a:p>
            <a:endParaRPr lang="en-IN"/>
          </a:p>
        </p:txBody>
      </p:sp>
      <p:sp>
        <p:nvSpPr>
          <p:cNvPr id="129" name="Shape 120"/>
          <p:cNvSpPr/>
          <p:nvPr/>
        </p:nvSpPr>
        <p:spPr>
          <a:xfrm>
            <a:off x="7382708" y="25410081"/>
            <a:ext cx="6813590" cy="314087"/>
          </a:xfrm>
          <a:prstGeom prst="roundRect">
            <a:avLst>
              <a:gd name="adj" fmla="val 8182"/>
            </a:avLst>
          </a:prstGeom>
          <a:solidFill>
            <a:srgbClr val="F4D4F7"/>
          </a:solidFill>
          <a:ln/>
        </p:spPr>
        <p:txBody>
          <a:bodyPr/>
          <a:lstStyle/>
          <a:p>
            <a:endParaRPr lang="en-IN"/>
          </a:p>
        </p:txBody>
      </p:sp>
      <p:sp>
        <p:nvSpPr>
          <p:cNvPr id="130" name="Text 121"/>
          <p:cNvSpPr/>
          <p:nvPr/>
        </p:nvSpPr>
        <p:spPr>
          <a:xfrm>
            <a:off x="10710982" y="25465088"/>
            <a:ext cx="157043" cy="196334"/>
          </a:xfrm>
          <a:prstGeom prst="rect">
            <a:avLst/>
          </a:prstGeom>
          <a:noFill/>
          <a:ln/>
        </p:spPr>
        <p:txBody>
          <a:bodyPr wrap="none" lIns="0" tIns="0" rIns="0" bIns="0" rtlCol="0" anchor="t"/>
          <a:lstStyle/>
          <a:p>
            <a:pPr marL="0" indent="0" algn="l">
              <a:lnSpc>
                <a:spcPts val="1200"/>
              </a:lnSpc>
              <a:buNone/>
            </a:pPr>
            <a:r>
              <a:rPr lang="en-US" sz="1200" dirty="0">
                <a:solidFill>
                  <a:srgbClr val="272525"/>
                </a:solidFill>
                <a:latin typeface="Source Serif 4 Semi Bold" pitchFamily="34" charset="0"/>
                <a:ea typeface="Source Serif 4 Semi Bold" pitchFamily="34" charset="-122"/>
                <a:cs typeface="Source Serif 4 Semi Bold" pitchFamily="34" charset="-120"/>
              </a:rPr>
              <a:t>2</a:t>
            </a:r>
            <a:endParaRPr lang="en-US" sz="1200" dirty="0"/>
          </a:p>
        </p:txBody>
      </p:sp>
      <p:sp>
        <p:nvSpPr>
          <p:cNvPr id="131" name="Text 122"/>
          <p:cNvSpPr/>
          <p:nvPr/>
        </p:nvSpPr>
        <p:spPr>
          <a:xfrm>
            <a:off x="7487364" y="25828823"/>
            <a:ext cx="1240988"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SQL Database Source</a:t>
            </a:r>
            <a:endParaRPr lang="en-US" sz="950" dirty="0"/>
          </a:p>
        </p:txBody>
      </p:sp>
      <p:sp>
        <p:nvSpPr>
          <p:cNvPr id="132" name="Text 123"/>
          <p:cNvSpPr/>
          <p:nvPr/>
        </p:nvSpPr>
        <p:spPr>
          <a:xfrm>
            <a:off x="7487364" y="26045517"/>
            <a:ext cx="6604278"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Complete documentation of authentic business data extraction, transformation, and validation procedures.</a:t>
            </a:r>
            <a:endParaRPr lang="en-US" sz="800" dirty="0"/>
          </a:p>
        </p:txBody>
      </p:sp>
      <p:sp>
        <p:nvSpPr>
          <p:cNvPr id="133" name="Shape 124"/>
          <p:cNvSpPr/>
          <p:nvPr/>
        </p:nvSpPr>
        <p:spPr>
          <a:xfrm>
            <a:off x="418862" y="26437709"/>
            <a:ext cx="6843951" cy="938213"/>
          </a:xfrm>
          <a:prstGeom prst="roundRect">
            <a:avLst>
              <a:gd name="adj" fmla="val 4688"/>
            </a:avLst>
          </a:prstGeom>
          <a:solidFill>
            <a:srgbClr val="FFFFFF">
              <a:alpha val="95000"/>
            </a:srgbClr>
          </a:solidFill>
          <a:ln w="15240">
            <a:solidFill>
              <a:srgbClr val="DABADD"/>
            </a:solidFill>
            <a:prstDash val="solid"/>
          </a:ln>
        </p:spPr>
        <p:txBody>
          <a:bodyPr/>
          <a:lstStyle/>
          <a:p>
            <a:endParaRPr lang="en-IN"/>
          </a:p>
        </p:txBody>
      </p:sp>
      <p:sp>
        <p:nvSpPr>
          <p:cNvPr id="134" name="Shape 125"/>
          <p:cNvSpPr/>
          <p:nvPr/>
        </p:nvSpPr>
        <p:spPr>
          <a:xfrm>
            <a:off x="434102" y="26452949"/>
            <a:ext cx="6813471" cy="314087"/>
          </a:xfrm>
          <a:prstGeom prst="roundRect">
            <a:avLst>
              <a:gd name="adj" fmla="val 8182"/>
            </a:avLst>
          </a:prstGeom>
          <a:solidFill>
            <a:srgbClr val="F4D4F7"/>
          </a:solidFill>
          <a:ln/>
        </p:spPr>
        <p:txBody>
          <a:bodyPr/>
          <a:lstStyle/>
          <a:p>
            <a:endParaRPr lang="en-IN"/>
          </a:p>
        </p:txBody>
      </p:sp>
      <p:sp>
        <p:nvSpPr>
          <p:cNvPr id="135" name="Text 126"/>
          <p:cNvSpPr/>
          <p:nvPr/>
        </p:nvSpPr>
        <p:spPr>
          <a:xfrm>
            <a:off x="3762256" y="26507956"/>
            <a:ext cx="157043" cy="196334"/>
          </a:xfrm>
          <a:prstGeom prst="rect">
            <a:avLst/>
          </a:prstGeom>
          <a:noFill/>
          <a:ln/>
        </p:spPr>
        <p:txBody>
          <a:bodyPr wrap="none" lIns="0" tIns="0" rIns="0" bIns="0" rtlCol="0" anchor="t"/>
          <a:lstStyle/>
          <a:p>
            <a:pPr marL="0" indent="0" algn="l">
              <a:lnSpc>
                <a:spcPts val="1200"/>
              </a:lnSpc>
              <a:buNone/>
            </a:pPr>
            <a:r>
              <a:rPr lang="en-US" sz="1200" dirty="0">
                <a:solidFill>
                  <a:srgbClr val="272525"/>
                </a:solidFill>
                <a:latin typeface="Source Serif 4 Semi Bold" pitchFamily="34" charset="0"/>
                <a:ea typeface="Source Serif 4 Semi Bold" pitchFamily="34" charset="-122"/>
                <a:cs typeface="Source Serif 4 Semi Bold" pitchFamily="34" charset="-120"/>
              </a:rPr>
              <a:t>3</a:t>
            </a:r>
            <a:endParaRPr lang="en-US" sz="1200" dirty="0"/>
          </a:p>
        </p:txBody>
      </p:sp>
      <p:sp>
        <p:nvSpPr>
          <p:cNvPr id="136" name="Text 127"/>
          <p:cNvSpPr/>
          <p:nvPr/>
        </p:nvSpPr>
        <p:spPr>
          <a:xfrm>
            <a:off x="538758" y="26871692"/>
            <a:ext cx="1281112"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PDF Executive Report</a:t>
            </a:r>
            <a:endParaRPr lang="en-US" sz="950" dirty="0"/>
          </a:p>
        </p:txBody>
      </p:sp>
      <p:sp>
        <p:nvSpPr>
          <p:cNvPr id="137" name="Text 128"/>
          <p:cNvSpPr/>
          <p:nvPr/>
        </p:nvSpPr>
        <p:spPr>
          <a:xfrm>
            <a:off x="538758" y="27088386"/>
            <a:ext cx="6604159"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Professional presentation-ready documentation for stakeholder communication and decision-making support.</a:t>
            </a:r>
            <a:endParaRPr lang="en-US" sz="800" dirty="0"/>
          </a:p>
        </p:txBody>
      </p:sp>
      <p:sp>
        <p:nvSpPr>
          <p:cNvPr id="138" name="Shape 129"/>
          <p:cNvSpPr/>
          <p:nvPr/>
        </p:nvSpPr>
        <p:spPr>
          <a:xfrm>
            <a:off x="7367468" y="26437709"/>
            <a:ext cx="6844070" cy="938213"/>
          </a:xfrm>
          <a:prstGeom prst="roundRect">
            <a:avLst>
              <a:gd name="adj" fmla="val 4688"/>
            </a:avLst>
          </a:prstGeom>
          <a:solidFill>
            <a:srgbClr val="FFFFFF">
              <a:alpha val="95000"/>
            </a:srgbClr>
          </a:solidFill>
          <a:ln w="15240">
            <a:solidFill>
              <a:srgbClr val="DABADD"/>
            </a:solidFill>
            <a:prstDash val="solid"/>
          </a:ln>
        </p:spPr>
        <p:txBody>
          <a:bodyPr/>
          <a:lstStyle/>
          <a:p>
            <a:endParaRPr lang="en-IN"/>
          </a:p>
        </p:txBody>
      </p:sp>
      <p:sp>
        <p:nvSpPr>
          <p:cNvPr id="139" name="Shape 130"/>
          <p:cNvSpPr/>
          <p:nvPr/>
        </p:nvSpPr>
        <p:spPr>
          <a:xfrm>
            <a:off x="7382708" y="26452949"/>
            <a:ext cx="6813590" cy="314087"/>
          </a:xfrm>
          <a:prstGeom prst="roundRect">
            <a:avLst>
              <a:gd name="adj" fmla="val 8182"/>
            </a:avLst>
          </a:prstGeom>
          <a:solidFill>
            <a:srgbClr val="F4D4F7"/>
          </a:solidFill>
          <a:ln/>
        </p:spPr>
        <p:txBody>
          <a:bodyPr/>
          <a:lstStyle/>
          <a:p>
            <a:endParaRPr lang="en-IN"/>
          </a:p>
        </p:txBody>
      </p:sp>
      <p:sp>
        <p:nvSpPr>
          <p:cNvPr id="140" name="Text 131"/>
          <p:cNvSpPr/>
          <p:nvPr/>
        </p:nvSpPr>
        <p:spPr>
          <a:xfrm>
            <a:off x="10710982" y="26507956"/>
            <a:ext cx="157043" cy="196334"/>
          </a:xfrm>
          <a:prstGeom prst="rect">
            <a:avLst/>
          </a:prstGeom>
          <a:noFill/>
          <a:ln/>
        </p:spPr>
        <p:txBody>
          <a:bodyPr wrap="none" lIns="0" tIns="0" rIns="0" bIns="0" rtlCol="0" anchor="t"/>
          <a:lstStyle/>
          <a:p>
            <a:pPr marL="0" indent="0" algn="l">
              <a:lnSpc>
                <a:spcPts val="1200"/>
              </a:lnSpc>
              <a:buNone/>
            </a:pPr>
            <a:r>
              <a:rPr lang="en-US" sz="1200" dirty="0">
                <a:solidFill>
                  <a:srgbClr val="272525"/>
                </a:solidFill>
                <a:latin typeface="Source Serif 4 Semi Bold" pitchFamily="34" charset="0"/>
                <a:ea typeface="Source Serif 4 Semi Bold" pitchFamily="34" charset="-122"/>
                <a:cs typeface="Source Serif 4 Semi Bold" pitchFamily="34" charset="-120"/>
              </a:rPr>
              <a:t>4</a:t>
            </a:r>
            <a:endParaRPr lang="en-US" sz="1200" dirty="0"/>
          </a:p>
        </p:txBody>
      </p:sp>
      <p:sp>
        <p:nvSpPr>
          <p:cNvPr id="141" name="Text 132"/>
          <p:cNvSpPr/>
          <p:nvPr/>
        </p:nvSpPr>
        <p:spPr>
          <a:xfrm>
            <a:off x="7487364" y="26871692"/>
            <a:ext cx="1533168" cy="153948"/>
          </a:xfrm>
          <a:prstGeom prst="rect">
            <a:avLst/>
          </a:prstGeom>
          <a:noFill/>
          <a:ln/>
        </p:spPr>
        <p:txBody>
          <a:bodyPr wrap="none" lIns="0" tIns="0" rIns="0" bIns="0" rtlCol="0" anchor="t"/>
          <a:lstStyle/>
          <a:p>
            <a:pPr marL="0" indent="0" algn="l">
              <a:lnSpc>
                <a:spcPts val="1200"/>
              </a:lnSpc>
              <a:buNone/>
            </a:pPr>
            <a:r>
              <a:rPr lang="en-US" sz="950" dirty="0">
                <a:solidFill>
                  <a:srgbClr val="272525"/>
                </a:solidFill>
                <a:latin typeface="Source Serif 4 Semi Bold" pitchFamily="34" charset="0"/>
                <a:ea typeface="Source Serif 4 Semi Bold" pitchFamily="34" charset="-122"/>
                <a:cs typeface="Source Serif 4 Semi Bold" pitchFamily="34" charset="-120"/>
              </a:rPr>
              <a:t>Technical Documentation</a:t>
            </a:r>
            <a:endParaRPr lang="en-US" sz="950" dirty="0"/>
          </a:p>
        </p:txBody>
      </p:sp>
      <p:sp>
        <p:nvSpPr>
          <p:cNvPr id="142" name="Text 133"/>
          <p:cNvSpPr/>
          <p:nvPr/>
        </p:nvSpPr>
        <p:spPr>
          <a:xfrm>
            <a:off x="7487364" y="27088386"/>
            <a:ext cx="6604278" cy="167640"/>
          </a:xfrm>
          <a:prstGeom prst="rect">
            <a:avLst/>
          </a:prstGeom>
          <a:noFill/>
          <a:ln/>
        </p:spPr>
        <p:txBody>
          <a:bodyPr wrap="non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Comprehensive project summary including DAX calculations, data models, and analytical methodology documentation.</a:t>
            </a:r>
            <a:endParaRPr lang="en-US" sz="800" dirty="0"/>
          </a:p>
        </p:txBody>
      </p:sp>
      <p:sp>
        <p:nvSpPr>
          <p:cNvPr id="143" name="Text 134"/>
          <p:cNvSpPr/>
          <p:nvPr/>
        </p:nvSpPr>
        <p:spPr>
          <a:xfrm>
            <a:off x="418862" y="27532965"/>
            <a:ext cx="2863334" cy="246459"/>
          </a:xfrm>
          <a:prstGeom prst="rect">
            <a:avLst/>
          </a:prstGeom>
          <a:noFill/>
          <a:ln/>
        </p:spPr>
        <p:txBody>
          <a:bodyPr wrap="none" lIns="0" tIns="0" rIns="0" bIns="0" rtlCol="0" anchor="t"/>
          <a:lstStyle/>
          <a:p>
            <a:pPr marL="0" indent="0" algn="l">
              <a:lnSpc>
                <a:spcPts val="1900"/>
              </a:lnSpc>
              <a:buNone/>
            </a:pPr>
            <a:r>
              <a:rPr lang="en-US" sz="1550" dirty="0">
                <a:solidFill>
                  <a:srgbClr val="D73AD7"/>
                </a:solidFill>
                <a:latin typeface="Source Serif 4 Semi Bold" pitchFamily="34" charset="0"/>
                <a:ea typeface="Source Serif 4 Semi Bold" pitchFamily="34" charset="-122"/>
                <a:cs typeface="Source Serif 4 Semi Bold" pitchFamily="34" charset="-120"/>
              </a:rPr>
              <a:t>Conclusion &amp; Business Impact</a:t>
            </a:r>
            <a:endParaRPr lang="en-US" sz="1550" dirty="0"/>
          </a:p>
        </p:txBody>
      </p:sp>
      <p:sp>
        <p:nvSpPr>
          <p:cNvPr id="144" name="Text 135"/>
          <p:cNvSpPr/>
          <p:nvPr/>
        </p:nvSpPr>
        <p:spPr>
          <a:xfrm>
            <a:off x="418862" y="27936468"/>
            <a:ext cx="13792676" cy="335280"/>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This comprehensive Sales Insights Project demonstrates the transformative power of Power BI and SQL integration for enterprise-level data-driven decision-making. The integrated dashboard enables business leaders to visualize critical metrics in real time, identify profitable markets and products, and strategically plan for sustainable growth.</a:t>
            </a:r>
            <a:endParaRPr lang="en-US" sz="800" dirty="0"/>
          </a:p>
        </p:txBody>
      </p:sp>
      <p:sp>
        <p:nvSpPr>
          <p:cNvPr id="145" name="Text 136"/>
          <p:cNvSpPr/>
          <p:nvPr/>
        </p:nvSpPr>
        <p:spPr>
          <a:xfrm>
            <a:off x="418862" y="28389501"/>
            <a:ext cx="13792676" cy="335280"/>
          </a:xfrm>
          <a:prstGeom prst="rect">
            <a:avLst/>
          </a:prstGeom>
          <a:noFill/>
          <a:ln/>
        </p:spPr>
        <p:txBody>
          <a:bodyPr wrap="square" lIns="0" tIns="0" rIns="0" bIns="0" rtlCol="0" anchor="t"/>
          <a:lstStyle/>
          <a:p>
            <a:pPr marL="0" indent="0" algn="l">
              <a:lnSpc>
                <a:spcPts val="1300"/>
              </a:lnSpc>
              <a:buNone/>
            </a:pPr>
            <a:r>
              <a:rPr lang="en-US" sz="800" dirty="0">
                <a:solidFill>
                  <a:srgbClr val="272525"/>
                </a:solidFill>
                <a:latin typeface="Source Sans 3" pitchFamily="34" charset="0"/>
                <a:ea typeface="Source Sans 3" pitchFamily="34" charset="-122"/>
                <a:cs typeface="Source Sans 3" pitchFamily="34" charset="-120"/>
              </a:rPr>
              <a:t>By combining sophisticated data modeling, SQL querying, and advanced DAX calculations, this initiative converts raw sales data into meaningful business intelligence. The analytical framework empowers managers to move beyond descriptive reporting toward predictive analytics and prescriptive recommendations. This data-centric approach exemplifies how modern analytics infrastructure drives smarter business strategies, operational optimization, and competitive advantage in dynamic market environments.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1204</Words>
  <Application>Microsoft Office PowerPoint</Application>
  <PresentationFormat>Custom</PresentationFormat>
  <Paragraphs>111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Source Serif 4 Semi Bold</vt:lpstr>
      <vt:lpstr>Source Sans 3</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MOHSIN AKTAR</dc:creator>
  <cp:lastModifiedBy>Jwel Aktar</cp:lastModifiedBy>
  <cp:revision>2</cp:revision>
  <dcterms:created xsi:type="dcterms:W3CDTF">2025-11-05T13:35:49Z</dcterms:created>
  <dcterms:modified xsi:type="dcterms:W3CDTF">2025-11-05T13:37:32Z</dcterms:modified>
</cp:coreProperties>
</file>